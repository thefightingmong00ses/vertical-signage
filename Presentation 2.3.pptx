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7"/>
  </p:notesMasterIdLst>
  <p:sldIdLst>
    <p:sldId id="257" r:id="rId2"/>
    <p:sldId id="271" r:id="rId3"/>
    <p:sldId id="273" r:id="rId4"/>
    <p:sldId id="274" r:id="rId5"/>
    <p:sldId id="275" r:id="rId6"/>
    <p:sldId id="260" r:id="rId7"/>
    <p:sldId id="261" r:id="rId8"/>
    <p:sldId id="262" r:id="rId9"/>
    <p:sldId id="263" r:id="rId10"/>
    <p:sldId id="264" r:id="rId11"/>
    <p:sldId id="277" r:id="rId12"/>
    <p:sldId id="276" r:id="rId13"/>
    <p:sldId id="265" r:id="rId14"/>
    <p:sldId id="272" r:id="rId15"/>
    <p:sldId id="266"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54BC671-0638-FB75-EA62-1543D5D52EE1}" v="668" dt="2026-05-06T22:16:50.665"/>
    <p1510:client id="{7367F79D-7E7B-9C33-8130-EAECDA5DFD15}" v="589" dt="2026-05-06T22:05:44.614"/>
    <p1510:client id="{B65A8528-E95B-5663-CF8C-9505BC4D428A}" v="296" dt="2026-05-06T21:56:57.006"/>
    <p1510:client id="{D8D690BF-9C6D-7179-C1C3-1C52CF8E0FAD}" v="1417" dt="2026-05-06T20:53:13.991"/>
    <p1510:client id="{DB726AFB-1F3D-1D8A-3E6F-415E90D4B936}" v="456" dt="2026-05-06T22:04:33.181"/>
    <p1510:client id="{E7154838-0216-8CC8-296C-630B43115ED2}" v="27" dt="2026-05-06T22:01:47.831"/>
    <p1510:client id="{F556D554-1E5A-C9DC-12F2-FD181CCDA387}" v="206" dt="2026-05-06T22:14:06.34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931C5EA-288B-4F55-912A-5F58407DF00E}" type="doc">
      <dgm:prSet loTypeId="urn:microsoft.com/office/officeart/2005/8/layout/default" loCatId="list" qsTypeId="urn:microsoft.com/office/officeart/2005/8/quickstyle/simple5" qsCatId="simple" csTypeId="urn:microsoft.com/office/officeart/2005/8/colors/accent1_2" csCatId="accent1"/>
      <dgm:spPr/>
      <dgm:t>
        <a:bodyPr/>
        <a:lstStyle/>
        <a:p>
          <a:endParaRPr lang="en-US"/>
        </a:p>
      </dgm:t>
    </dgm:pt>
    <dgm:pt modelId="{779EDD44-B46F-457A-9B0B-EECC241E6236}">
      <dgm:prSet/>
      <dgm:spPr/>
      <dgm:t>
        <a:bodyPr/>
        <a:lstStyle/>
        <a:p>
          <a:r>
            <a:rPr lang="en-US"/>
            <a:t>Sprint Backlog: 8 completed stories</a:t>
          </a:r>
        </a:p>
      </dgm:t>
    </dgm:pt>
    <dgm:pt modelId="{F24D9B87-4561-47F1-902B-D4911303E4D1}" type="parTrans" cxnId="{562E04FD-07EC-4575-B7EE-14010EF1A192}">
      <dgm:prSet/>
      <dgm:spPr/>
      <dgm:t>
        <a:bodyPr/>
        <a:lstStyle/>
        <a:p>
          <a:endParaRPr lang="en-US"/>
        </a:p>
      </dgm:t>
    </dgm:pt>
    <dgm:pt modelId="{07527F71-0297-47C0-B63E-AD384CE977F8}" type="sibTrans" cxnId="{562E04FD-07EC-4575-B7EE-14010EF1A192}">
      <dgm:prSet/>
      <dgm:spPr/>
      <dgm:t>
        <a:bodyPr/>
        <a:lstStyle/>
        <a:p>
          <a:endParaRPr lang="en-US"/>
        </a:p>
      </dgm:t>
    </dgm:pt>
    <dgm:pt modelId="{B7DA7F63-336A-428D-BD64-8E25C4A8A29F}">
      <dgm:prSet/>
      <dgm:spPr/>
      <dgm:t>
        <a:bodyPr/>
        <a:lstStyle/>
        <a:p>
          <a:r>
            <a:rPr lang="en-US"/>
            <a:t>Velocity: 18 tasks this sprint </a:t>
          </a:r>
        </a:p>
      </dgm:t>
    </dgm:pt>
    <dgm:pt modelId="{277C7467-0703-4D1F-954D-BEED0900B5F4}" type="parTrans" cxnId="{A1070207-D764-4FFD-9890-74BD6BFA0384}">
      <dgm:prSet/>
      <dgm:spPr/>
      <dgm:t>
        <a:bodyPr/>
        <a:lstStyle/>
        <a:p>
          <a:endParaRPr lang="en-US"/>
        </a:p>
      </dgm:t>
    </dgm:pt>
    <dgm:pt modelId="{35F15993-F1A1-4B19-87C0-5CDC38DC015E}" type="sibTrans" cxnId="{A1070207-D764-4FFD-9890-74BD6BFA0384}">
      <dgm:prSet/>
      <dgm:spPr/>
      <dgm:t>
        <a:bodyPr/>
        <a:lstStyle/>
        <a:p>
          <a:endParaRPr lang="en-US"/>
        </a:p>
      </dgm:t>
    </dgm:pt>
    <dgm:pt modelId="{59E1A318-E079-4DDE-8CBC-B8B7555B436B}" type="pres">
      <dgm:prSet presAssocID="{2931C5EA-288B-4F55-912A-5F58407DF00E}" presName="diagram" presStyleCnt="0">
        <dgm:presLayoutVars>
          <dgm:dir/>
          <dgm:resizeHandles val="exact"/>
        </dgm:presLayoutVars>
      </dgm:prSet>
      <dgm:spPr/>
    </dgm:pt>
    <dgm:pt modelId="{A49A9B7E-D733-49BA-89F1-A2CDC26DBC9F}" type="pres">
      <dgm:prSet presAssocID="{779EDD44-B46F-457A-9B0B-EECC241E6236}" presName="node" presStyleLbl="node1" presStyleIdx="0" presStyleCnt="2">
        <dgm:presLayoutVars>
          <dgm:bulletEnabled val="1"/>
        </dgm:presLayoutVars>
      </dgm:prSet>
      <dgm:spPr/>
    </dgm:pt>
    <dgm:pt modelId="{E6475FB6-ACED-4C4D-92A8-26EA0A19D3F4}" type="pres">
      <dgm:prSet presAssocID="{07527F71-0297-47C0-B63E-AD384CE977F8}" presName="sibTrans" presStyleCnt="0"/>
      <dgm:spPr/>
    </dgm:pt>
    <dgm:pt modelId="{04FF1351-9B57-4383-BD63-440D689FBBF4}" type="pres">
      <dgm:prSet presAssocID="{B7DA7F63-336A-428D-BD64-8E25C4A8A29F}" presName="node" presStyleLbl="node1" presStyleIdx="1" presStyleCnt="2">
        <dgm:presLayoutVars>
          <dgm:bulletEnabled val="1"/>
        </dgm:presLayoutVars>
      </dgm:prSet>
      <dgm:spPr/>
    </dgm:pt>
  </dgm:ptLst>
  <dgm:cxnLst>
    <dgm:cxn modelId="{A1070207-D764-4FFD-9890-74BD6BFA0384}" srcId="{2931C5EA-288B-4F55-912A-5F58407DF00E}" destId="{B7DA7F63-336A-428D-BD64-8E25C4A8A29F}" srcOrd="1" destOrd="0" parTransId="{277C7467-0703-4D1F-954D-BEED0900B5F4}" sibTransId="{35F15993-F1A1-4B19-87C0-5CDC38DC015E}"/>
    <dgm:cxn modelId="{BC1A7C81-0EEA-4164-BA10-1FC911ABD948}" type="presOf" srcId="{2931C5EA-288B-4F55-912A-5F58407DF00E}" destId="{59E1A318-E079-4DDE-8CBC-B8B7555B436B}" srcOrd="0" destOrd="0" presId="urn:microsoft.com/office/officeart/2005/8/layout/default"/>
    <dgm:cxn modelId="{B994DBAF-46B8-42DE-BA4B-96876611933E}" type="presOf" srcId="{779EDD44-B46F-457A-9B0B-EECC241E6236}" destId="{A49A9B7E-D733-49BA-89F1-A2CDC26DBC9F}" srcOrd="0" destOrd="0" presId="urn:microsoft.com/office/officeart/2005/8/layout/default"/>
    <dgm:cxn modelId="{2250AFEB-E951-4E60-842D-54ED7BA4285E}" type="presOf" srcId="{B7DA7F63-336A-428D-BD64-8E25C4A8A29F}" destId="{04FF1351-9B57-4383-BD63-440D689FBBF4}" srcOrd="0" destOrd="0" presId="urn:microsoft.com/office/officeart/2005/8/layout/default"/>
    <dgm:cxn modelId="{562E04FD-07EC-4575-B7EE-14010EF1A192}" srcId="{2931C5EA-288B-4F55-912A-5F58407DF00E}" destId="{779EDD44-B46F-457A-9B0B-EECC241E6236}" srcOrd="0" destOrd="0" parTransId="{F24D9B87-4561-47F1-902B-D4911303E4D1}" sibTransId="{07527F71-0297-47C0-B63E-AD384CE977F8}"/>
    <dgm:cxn modelId="{FE7705EF-B0A4-40A4-8F93-85A47EE049DB}" type="presParOf" srcId="{59E1A318-E079-4DDE-8CBC-B8B7555B436B}" destId="{A49A9B7E-D733-49BA-89F1-A2CDC26DBC9F}" srcOrd="0" destOrd="0" presId="urn:microsoft.com/office/officeart/2005/8/layout/default"/>
    <dgm:cxn modelId="{4885ACC1-1F8B-40B6-BC85-82A6E44AA40A}" type="presParOf" srcId="{59E1A318-E079-4DDE-8CBC-B8B7555B436B}" destId="{E6475FB6-ACED-4C4D-92A8-26EA0A19D3F4}" srcOrd="1" destOrd="0" presId="urn:microsoft.com/office/officeart/2005/8/layout/default"/>
    <dgm:cxn modelId="{884C7E49-433F-4461-A35A-97F492967FCB}" type="presParOf" srcId="{59E1A318-E079-4DDE-8CBC-B8B7555B436B}" destId="{04FF1351-9B57-4383-BD63-440D689FBBF4}" srcOrd="2"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9A9B7E-D733-49BA-89F1-A2CDC26DBC9F}">
      <dsp:nvSpPr>
        <dsp:cNvPr id="0" name=""/>
        <dsp:cNvSpPr/>
      </dsp:nvSpPr>
      <dsp:spPr>
        <a:xfrm>
          <a:off x="1283" y="673807"/>
          <a:ext cx="5006206" cy="3003723"/>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09550" tIns="209550" rIns="209550" bIns="209550" numCol="1" spcCol="1270" anchor="ctr" anchorCtr="0">
          <a:noAutofit/>
        </a:bodyPr>
        <a:lstStyle/>
        <a:p>
          <a:pPr marL="0" lvl="0" indent="0" algn="ctr" defTabSz="2444750">
            <a:lnSpc>
              <a:spcPct val="90000"/>
            </a:lnSpc>
            <a:spcBef>
              <a:spcPct val="0"/>
            </a:spcBef>
            <a:spcAft>
              <a:spcPct val="35000"/>
            </a:spcAft>
            <a:buNone/>
          </a:pPr>
          <a:r>
            <a:rPr lang="en-US" sz="5500" kern="1200"/>
            <a:t>Sprint Backlog: 8 completed stories</a:t>
          </a:r>
        </a:p>
      </dsp:txBody>
      <dsp:txXfrm>
        <a:off x="1283" y="673807"/>
        <a:ext cx="5006206" cy="3003723"/>
      </dsp:txXfrm>
    </dsp:sp>
    <dsp:sp modelId="{04FF1351-9B57-4383-BD63-440D689FBBF4}">
      <dsp:nvSpPr>
        <dsp:cNvPr id="0" name=""/>
        <dsp:cNvSpPr/>
      </dsp:nvSpPr>
      <dsp:spPr>
        <a:xfrm>
          <a:off x="5508110" y="673807"/>
          <a:ext cx="5006206" cy="3003723"/>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09550" tIns="209550" rIns="209550" bIns="209550" numCol="1" spcCol="1270" anchor="ctr" anchorCtr="0">
          <a:noAutofit/>
        </a:bodyPr>
        <a:lstStyle/>
        <a:p>
          <a:pPr marL="0" lvl="0" indent="0" algn="ctr" defTabSz="2444750">
            <a:lnSpc>
              <a:spcPct val="90000"/>
            </a:lnSpc>
            <a:spcBef>
              <a:spcPct val="0"/>
            </a:spcBef>
            <a:spcAft>
              <a:spcPct val="35000"/>
            </a:spcAft>
            <a:buNone/>
          </a:pPr>
          <a:r>
            <a:rPr lang="en-US" sz="5500" kern="1200"/>
            <a:t>Velocity: 18 tasks this sprint </a:t>
          </a:r>
        </a:p>
      </dsp:txBody>
      <dsp:txXfrm>
        <a:off x="5508110" y="673807"/>
        <a:ext cx="5006206" cy="3003723"/>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8474D34-D6F3-4303-9275-6CD53F7B5E4C}" type="datetimeFigureOut">
              <a:t>5/6/2026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4ED2D3C-60A8-448A-A88C-3F3F137C19A0}" type="slidenum">
              <a:t>‹#›</a:t>
            </a:fld>
            <a:endParaRPr lang="en-US"/>
          </a:p>
        </p:txBody>
      </p:sp>
    </p:spTree>
    <p:extLst>
      <p:ext uri="{BB962C8B-B14F-4D97-AF65-F5344CB8AC3E}">
        <p14:creationId xmlns:p14="http://schemas.microsoft.com/office/powerpoint/2010/main" val="31916194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localhost:8080/" TargetMode="Externa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Going the API route for the calendar offers far more options in terms of </a:t>
            </a:r>
            <a:r>
              <a:rPr lang="en-US"/>
              <a:t>customizability</a:t>
            </a:r>
            <a:r>
              <a:rPr lang="en-US">
                <a:ea typeface="Calibri"/>
                <a:cs typeface="Calibri"/>
              </a:rPr>
              <a:t> and stylization. Very few limitations that I could find when using the API</a:t>
            </a:r>
          </a:p>
        </p:txBody>
      </p:sp>
      <p:sp>
        <p:nvSpPr>
          <p:cNvPr id="4" name="Slide Number Placeholder 3"/>
          <p:cNvSpPr>
            <a:spLocks noGrp="1"/>
          </p:cNvSpPr>
          <p:nvPr>
            <p:ph type="sldNum" sz="quarter" idx="5"/>
          </p:nvPr>
        </p:nvSpPr>
        <p:spPr/>
        <p:txBody>
          <a:bodyPr/>
          <a:lstStyle/>
          <a:p>
            <a:fld id="{04ED2D3C-60A8-448A-A88C-3F3F137C19A0}" type="slidenum">
              <a:t>6</a:t>
            </a:fld>
            <a:endParaRPr lang="en-US"/>
          </a:p>
        </p:txBody>
      </p:sp>
    </p:spTree>
    <p:extLst>
      <p:ext uri="{BB962C8B-B14F-4D97-AF65-F5344CB8AC3E}">
        <p14:creationId xmlns:p14="http://schemas.microsoft.com/office/powerpoint/2010/main" val="30177037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Adding API Key isn't necessarily difficult, but tedious. Can be tricky to navigate the pages, as Google projects looks pretty terrible and confusing to get around</a:t>
            </a:r>
          </a:p>
          <a:p>
            <a:r>
              <a:rPr lang="en-US">
                <a:ea typeface="Calibri"/>
                <a:cs typeface="Calibri"/>
              </a:rPr>
              <a:t>Linking a Google Calendar is much easier and straight forward though</a:t>
            </a:r>
          </a:p>
        </p:txBody>
      </p:sp>
      <p:sp>
        <p:nvSpPr>
          <p:cNvPr id="4" name="Slide Number Placeholder 3"/>
          <p:cNvSpPr>
            <a:spLocks noGrp="1"/>
          </p:cNvSpPr>
          <p:nvPr>
            <p:ph type="sldNum" sz="quarter" idx="5"/>
          </p:nvPr>
        </p:nvSpPr>
        <p:spPr/>
        <p:txBody>
          <a:bodyPr/>
          <a:lstStyle/>
          <a:p>
            <a:fld id="{04ED2D3C-60A8-448A-A88C-3F3F137C19A0}" type="slidenum">
              <a:t>7</a:t>
            </a:fld>
            <a:endParaRPr lang="en-US"/>
          </a:p>
        </p:txBody>
      </p:sp>
    </p:spTree>
    <p:extLst>
      <p:ext uri="{BB962C8B-B14F-4D97-AF65-F5344CB8AC3E}">
        <p14:creationId xmlns:p14="http://schemas.microsoft.com/office/powerpoint/2010/main" val="23463743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
              <a:buChar char="•"/>
            </a:pPr>
            <a:r>
              <a:rPr lang="en-US" dirty="0"/>
              <a:t>Base image is </a:t>
            </a:r>
            <a:r>
              <a:rPr lang="en-US" dirty="0" err="1"/>
              <a:t>nginx:alpine</a:t>
            </a:r>
            <a:r>
              <a:rPr lang="en-US" dirty="0"/>
              <a:t> — minimal Linux with nginx pre-configured</a:t>
            </a:r>
          </a:p>
          <a:p>
            <a:pPr marL="285750" indent="-285750">
              <a:buFont typeface="Arial"/>
              <a:buChar char="•"/>
            </a:pPr>
            <a:r>
              <a:rPr lang="en-US" dirty="0" err="1"/>
              <a:t>Dockerfile</a:t>
            </a:r>
            <a:r>
              <a:rPr lang="en-US" dirty="0"/>
              <a:t> copies </a:t>
            </a:r>
            <a:r>
              <a:rPr lang="en-US" dirty="0" err="1"/>
              <a:t>src</a:t>
            </a:r>
            <a:r>
              <a:rPr lang="en-US" dirty="0"/>
              <a:t>/ and config/ into the nginx web root</a:t>
            </a:r>
            <a:endParaRPr lang="en-US" dirty="0">
              <a:ea typeface="Calibri"/>
              <a:cs typeface="Calibri"/>
            </a:endParaRPr>
          </a:p>
          <a:p>
            <a:pPr marL="285750" indent="-285750">
              <a:buFont typeface="Arial"/>
              <a:buChar char="•"/>
            </a:pPr>
            <a:r>
              <a:rPr lang="en-US"/>
              <a:t>No build step needed — plain HTML, CSS, and JS served directly</a:t>
            </a:r>
          </a:p>
          <a:p>
            <a:pPr marL="285750" indent="-285750">
              <a:buFont typeface="Arial"/>
              <a:buChar char="•"/>
            </a:pPr>
            <a:r>
              <a:rPr lang="en-US"/>
              <a:t>Build with: docker build -t vertical-signage-test .</a:t>
            </a:r>
          </a:p>
          <a:p>
            <a:pPr marL="285750" indent="-285750">
              <a:buFont typeface="Arial"/>
              <a:buChar char="•"/>
            </a:pPr>
            <a:r>
              <a:rPr lang="en-US" dirty="0"/>
              <a:t>Run with: docker run -d -p 8080:80 --name vertical-signage-test </a:t>
            </a:r>
            <a:r>
              <a:rPr lang="en-US" dirty="0" err="1"/>
              <a:t>vertical-signage-test</a:t>
            </a:r>
            <a:endParaRPr lang="en-US" dirty="0" err="1">
              <a:ea typeface="Calibri"/>
              <a:cs typeface="Calibri"/>
            </a:endParaRPr>
          </a:p>
          <a:p>
            <a:pPr marL="285750" indent="-285750">
              <a:buFont typeface="Arial"/>
              <a:buChar char="•"/>
            </a:pPr>
            <a:r>
              <a:rPr lang="en-US"/>
              <a:t>View at </a:t>
            </a:r>
            <a:r>
              <a:rPr lang="en-US" dirty="0">
                <a:hlinkClick r:id="rId3"/>
              </a:rPr>
              <a:t>http://localhost:8080</a:t>
            </a:r>
            <a:endParaRPr lang="en-US"/>
          </a:p>
          <a:p>
            <a:pPr marL="285750" indent="-285750">
              <a:buFont typeface="Arial"/>
              <a:buChar char="•"/>
            </a:pPr>
            <a:r>
              <a:rPr lang="en-US"/>
              <a:t>Stop and rebuild after changes: stop → rm → build → run</a:t>
            </a: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04ED2D3C-60A8-448A-A88C-3F3F137C19A0}" type="slidenum">
              <a:rPr lang="en-US"/>
              <a:t>12</a:t>
            </a:fld>
            <a:endParaRPr lang="en-US"/>
          </a:p>
        </p:txBody>
      </p:sp>
    </p:spTree>
    <p:extLst>
      <p:ext uri="{BB962C8B-B14F-4D97-AF65-F5344CB8AC3E}">
        <p14:creationId xmlns:p14="http://schemas.microsoft.com/office/powerpoint/2010/main" val="5454382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
              <a:buChar char="•"/>
            </a:pPr>
            <a:r>
              <a:rPr lang="en-US" dirty="0"/>
              <a:t>Workflow lives at .</a:t>
            </a:r>
            <a:r>
              <a:rPr lang="en-US" dirty="0" err="1"/>
              <a:t>github</a:t>
            </a:r>
            <a:r>
              <a:rPr lang="en-US" dirty="0"/>
              <a:t>/workflows/</a:t>
            </a:r>
            <a:r>
              <a:rPr lang="en-US" dirty="0" err="1"/>
              <a:t>docker.yml</a:t>
            </a:r>
          </a:p>
          <a:p>
            <a:pPr marL="285750" indent="-285750">
              <a:buFont typeface="Arial"/>
              <a:buChar char="•"/>
            </a:pPr>
            <a:r>
              <a:rPr lang="en-US"/>
              <a:t>Triggers on any push or merged PR to the main branch</a:t>
            </a:r>
          </a:p>
          <a:p>
            <a:pPr marL="285750" indent="-285750">
              <a:buFont typeface="Arial"/>
              <a:buChar char="•"/>
            </a:pPr>
            <a:r>
              <a:rPr lang="en-US"/>
              <a:t>Authenticates to ghcr.io automatically via GITHUB_TOKEN — no manual secrets needed</a:t>
            </a:r>
          </a:p>
          <a:p>
            <a:pPr marL="285750" indent="-285750">
              <a:buFont typeface="Arial"/>
              <a:buChar char="•"/>
            </a:pPr>
            <a:r>
              <a:rPr lang="en-US" dirty="0"/>
              <a:t>Builds the image from the </a:t>
            </a:r>
            <a:r>
              <a:rPr lang="en-US" dirty="0" err="1"/>
              <a:t>Dockerfile</a:t>
            </a:r>
            <a:r>
              <a:rPr lang="en-US" dirty="0"/>
              <a:t> and pushes two tags: :latest and :&lt;git-sha&gt; for rollbacks</a:t>
            </a:r>
          </a:p>
          <a:p>
            <a:pPr marL="285750" indent="-285750">
              <a:buFont typeface="Arial"/>
              <a:buChar char="•"/>
            </a:pPr>
            <a:r>
              <a:rPr lang="en-US"/>
              <a:t>Published at ghcr.io/thefightingmong00ses/vertical-signage</a:t>
            </a:r>
          </a:p>
          <a:p>
            <a:pPr marL="285750" indent="-285750">
              <a:buFont typeface="Arial"/>
              <a:buChar char="•"/>
            </a:pPr>
            <a:r>
              <a:rPr lang="en-US" dirty="0"/>
              <a:t>Pull and run on any machine: docker pull ghcr.io/thefightingmong00ses/</a:t>
            </a:r>
            <a:r>
              <a:rPr lang="en-US" dirty="0" err="1"/>
              <a:t>vertical-signage:latest</a:t>
            </a:r>
          </a:p>
          <a:p>
            <a:pPr marL="285750" indent="-285750">
              <a:buFont typeface="Arial"/>
              <a:buChar char="•"/>
            </a:pPr>
            <a:r>
              <a:rPr lang="en-US"/>
              <a:t>Monitor builds in the Actions tab on GitHub</a:t>
            </a: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04ED2D3C-60A8-448A-A88C-3F3F137C19A0}" type="slidenum">
              <a:rPr lang="en-US"/>
              <a:t>11</a:t>
            </a:fld>
            <a:endParaRPr lang="en-US"/>
          </a:p>
        </p:txBody>
      </p:sp>
    </p:spTree>
    <p:extLst>
      <p:ext uri="{BB962C8B-B14F-4D97-AF65-F5344CB8AC3E}">
        <p14:creationId xmlns:p14="http://schemas.microsoft.com/office/powerpoint/2010/main" val="9162408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5/6/2026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5/6/2026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5/6/2026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5/6/2026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3.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A073D05E-8729-42DC-8A40-3A841A92FF18}"/>
              </a:ext>
            </a:extLst>
          </p:cNvPr>
          <p:cNvPicPr>
            <a:picLocks noChangeAspect="1"/>
          </p:cNvPicPr>
          <p:nvPr/>
        </p:nvPicPr>
        <p:blipFill>
          <a:blip r:embed="rId2">
            <a:alphaModFix/>
          </a:blip>
          <a:srcRect l="4608" r="6508"/>
          <a:stretch>
            <a:fillRect/>
          </a:stretch>
        </p:blipFill>
        <p:spPr>
          <a:xfrm>
            <a:off x="20" y="1376"/>
            <a:ext cx="12188932" cy="6856624"/>
          </a:xfrm>
          <a:prstGeom prst="rect">
            <a:avLst/>
          </a:prstGeom>
        </p:spPr>
      </p:pic>
      <p:sp>
        <p:nvSpPr>
          <p:cNvPr id="2" name="Title 1"/>
          <p:cNvSpPr>
            <a:spLocks noGrp="1"/>
          </p:cNvSpPr>
          <p:nvPr>
            <p:ph type="ctrTitle"/>
          </p:nvPr>
        </p:nvSpPr>
        <p:spPr>
          <a:xfrm>
            <a:off x="5888568" y="1828799"/>
            <a:ext cx="5465233" cy="3136782"/>
          </a:xfrm>
        </p:spPr>
        <p:txBody>
          <a:bodyPr anchor="b">
            <a:normAutofit fontScale="90000"/>
          </a:bodyPr>
          <a:lstStyle/>
          <a:p>
            <a:pPr algn="l"/>
            <a:r>
              <a:rPr lang="en-US">
                <a:solidFill>
                  <a:srgbClr val="FFFFFF"/>
                </a:solidFill>
              </a:rPr>
              <a:t>The Fighting Mongooses</a:t>
            </a:r>
            <a:br>
              <a:rPr lang="en-US">
                <a:solidFill>
                  <a:srgbClr val="FFFFFF"/>
                </a:solidFill>
              </a:rPr>
            </a:br>
            <a:r>
              <a:rPr lang="en-US" sz="2200">
                <a:solidFill>
                  <a:schemeClr val="bg1"/>
                </a:solidFill>
              </a:rPr>
              <a:t>Nick Sigurdson, Steven Schlenker, Keith Schoen, Rebeca Soto, Erik Porter, Jabril Smith</a:t>
            </a:r>
            <a:br>
              <a:rPr lang="en-US">
                <a:solidFill>
                  <a:schemeClr val="bg1"/>
                </a:solidFill>
              </a:rPr>
            </a:br>
            <a:endParaRPr lang="en-US">
              <a:solidFill>
                <a:srgbClr val="FFFFFF"/>
              </a:solidFill>
            </a:endParaRPr>
          </a:p>
        </p:txBody>
      </p:sp>
    </p:spTree>
    <p:extLst>
      <p:ext uri="{BB962C8B-B14F-4D97-AF65-F5344CB8AC3E}">
        <p14:creationId xmlns:p14="http://schemas.microsoft.com/office/powerpoint/2010/main" val="22552839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C7D06ED-31A2-47E1-9DFD-92829F8E29EF}"/>
            </a:ext>
          </a:extLst>
        </p:cNvPr>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8CBF7AC-E431-F43D-36E0-4556DF98919E}"/>
              </a:ext>
            </a:extLst>
          </p:cNvPr>
          <p:cNvSpPr>
            <a:spLocks noGrp="1"/>
          </p:cNvSpPr>
          <p:nvPr>
            <p:ph type="title"/>
          </p:nvPr>
        </p:nvSpPr>
        <p:spPr>
          <a:xfrm>
            <a:off x="826396" y="586855"/>
            <a:ext cx="4230100" cy="3387497"/>
          </a:xfrm>
        </p:spPr>
        <p:txBody>
          <a:bodyPr vert="horz" lIns="91440" tIns="45720" rIns="91440" bIns="45720" rtlCol="0" anchor="b">
            <a:normAutofit/>
          </a:bodyPr>
          <a:lstStyle/>
          <a:p>
            <a:pPr algn="r"/>
            <a:r>
              <a:rPr lang="en-US" sz="4000" kern="1200">
                <a:solidFill>
                  <a:srgbClr val="FFFFFF"/>
                </a:solidFill>
                <a:latin typeface="+mj-lt"/>
                <a:ea typeface="+mj-ea"/>
                <a:cs typeface="+mj-cs"/>
              </a:rPr>
              <a:t>What went well...</a:t>
            </a:r>
          </a:p>
        </p:txBody>
      </p:sp>
      <p:sp>
        <p:nvSpPr>
          <p:cNvPr id="3" name="Content Placeholder 2">
            <a:extLst>
              <a:ext uri="{FF2B5EF4-FFF2-40B4-BE49-F238E27FC236}">
                <a16:creationId xmlns:a16="http://schemas.microsoft.com/office/drawing/2014/main" id="{241BA445-D611-7262-4331-CC9427D0147A}"/>
              </a:ext>
            </a:extLst>
          </p:cNvPr>
          <p:cNvSpPr>
            <a:spLocks noGrp="1"/>
          </p:cNvSpPr>
          <p:nvPr>
            <p:ph idx="1"/>
          </p:nvPr>
        </p:nvSpPr>
        <p:spPr>
          <a:xfrm>
            <a:off x="6503158" y="649480"/>
            <a:ext cx="4862447" cy="5546047"/>
          </a:xfrm>
        </p:spPr>
        <p:txBody>
          <a:bodyPr vert="horz" lIns="91440" tIns="45720" rIns="91440" bIns="45720" rtlCol="0" anchor="ctr">
            <a:normAutofit/>
          </a:bodyPr>
          <a:lstStyle/>
          <a:p>
            <a:pPr marL="0"/>
            <a:endParaRPr lang="en-US" sz="2000"/>
          </a:p>
          <a:p>
            <a:pPr marL="0"/>
            <a:endParaRPr lang="en-US" sz="2000"/>
          </a:p>
        </p:txBody>
      </p:sp>
      <p:sp>
        <p:nvSpPr>
          <p:cNvPr id="5" name="TextBox 4">
            <a:extLst>
              <a:ext uri="{FF2B5EF4-FFF2-40B4-BE49-F238E27FC236}">
                <a16:creationId xmlns:a16="http://schemas.microsoft.com/office/drawing/2014/main" id="{4685F707-BC9B-9E42-F96B-07010FA5A8FF}"/>
              </a:ext>
            </a:extLst>
          </p:cNvPr>
          <p:cNvSpPr txBox="1"/>
          <p:nvPr/>
        </p:nvSpPr>
        <p:spPr>
          <a:xfrm>
            <a:off x="6058829" y="929268"/>
            <a:ext cx="5910146" cy="15204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28600">
              <a:lnSpc>
                <a:spcPct val="90000"/>
              </a:lnSpc>
              <a:spcAft>
                <a:spcPts val="600"/>
              </a:spcAft>
              <a:buFont typeface="Arial,Sans-Serif"/>
              <a:buChar char="•"/>
            </a:pPr>
            <a:r>
              <a:rPr lang="en-US"/>
              <a:t>Deployment: We were able to deliver two deployment methods to cover all use cases</a:t>
            </a:r>
          </a:p>
          <a:p>
            <a:pPr marL="285750" indent="-228600">
              <a:lnSpc>
                <a:spcPct val="90000"/>
              </a:lnSpc>
              <a:spcAft>
                <a:spcPts val="600"/>
              </a:spcAft>
              <a:buFont typeface="Arial,Sans-Serif"/>
              <a:buChar char="•"/>
            </a:pPr>
            <a:r>
              <a:rPr lang="en-US" dirty="0"/>
              <a:t>Troubleshooting: We had several issues with </a:t>
            </a:r>
            <a:r>
              <a:rPr lang="en-US"/>
              <a:t>the API</a:t>
            </a:r>
            <a:r>
              <a:rPr lang="en-US" dirty="0"/>
              <a:t> calls and were able to get them all resolved</a:t>
            </a:r>
          </a:p>
          <a:p>
            <a:pPr marL="285750" indent="-285750">
              <a:buFont typeface="Arial"/>
              <a:buChar char="•"/>
            </a:pPr>
            <a:endParaRPr lang="en-US" dirty="0"/>
          </a:p>
        </p:txBody>
      </p:sp>
    </p:spTree>
    <p:extLst>
      <p:ext uri="{BB962C8B-B14F-4D97-AF65-F5344CB8AC3E}">
        <p14:creationId xmlns:p14="http://schemas.microsoft.com/office/powerpoint/2010/main" val="3405037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FFBEE45-F140-49D5-85EA-C78C24340B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AA5308B-46EC-6127-3C9C-60BFE053FFA7}"/>
              </a:ext>
            </a:extLst>
          </p:cNvPr>
          <p:cNvSpPr>
            <a:spLocks noGrp="1"/>
          </p:cNvSpPr>
          <p:nvPr>
            <p:ph type="title"/>
          </p:nvPr>
        </p:nvSpPr>
        <p:spPr>
          <a:xfrm>
            <a:off x="838200" y="365125"/>
            <a:ext cx="4928387" cy="5763963"/>
          </a:xfrm>
        </p:spPr>
        <p:txBody>
          <a:bodyPr vert="horz" lIns="91440" tIns="45720" rIns="91440" bIns="45720" rtlCol="0" anchor="ctr">
            <a:normAutofit/>
          </a:bodyPr>
          <a:lstStyle/>
          <a:p>
            <a:r>
              <a:rPr lang="en-US" sz="5200" kern="1200">
                <a:solidFill>
                  <a:schemeClr val="tx1"/>
                </a:solidFill>
                <a:latin typeface="+mj-lt"/>
                <a:ea typeface="+mj-ea"/>
                <a:cs typeface="+mj-cs"/>
              </a:rPr>
              <a:t>What went poorly...</a:t>
            </a:r>
          </a:p>
        </p:txBody>
      </p:sp>
      <p:sp>
        <p:nvSpPr>
          <p:cNvPr id="3" name="Content Placeholder 2">
            <a:extLst>
              <a:ext uri="{FF2B5EF4-FFF2-40B4-BE49-F238E27FC236}">
                <a16:creationId xmlns:a16="http://schemas.microsoft.com/office/drawing/2014/main" id="{90318A73-EAF1-C8F6-9748-533D4F777FBF}"/>
              </a:ext>
            </a:extLst>
          </p:cNvPr>
          <p:cNvSpPr>
            <a:spLocks noGrp="1"/>
          </p:cNvSpPr>
          <p:nvPr>
            <p:ph idx="1"/>
          </p:nvPr>
        </p:nvSpPr>
        <p:spPr>
          <a:xfrm>
            <a:off x="6191252" y="365125"/>
            <a:ext cx="5181600" cy="2806296"/>
          </a:xfrm>
        </p:spPr>
        <p:txBody>
          <a:bodyPr vert="horz" lIns="91440" tIns="45720" rIns="91440" bIns="45720" rtlCol="0">
            <a:normAutofit/>
          </a:bodyPr>
          <a:lstStyle/>
          <a:p>
            <a:pPr marL="0"/>
            <a:endParaRPr lang="en-US" sz="2000"/>
          </a:p>
          <a:p>
            <a:pPr marL="0"/>
            <a:endParaRPr lang="en-US" sz="2000"/>
          </a:p>
        </p:txBody>
      </p:sp>
      <p:sp>
        <p:nvSpPr>
          <p:cNvPr id="4" name="TextBox 3">
            <a:extLst>
              <a:ext uri="{FF2B5EF4-FFF2-40B4-BE49-F238E27FC236}">
                <a16:creationId xmlns:a16="http://schemas.microsoft.com/office/drawing/2014/main" id="{18FBB433-4520-4173-254E-FB79EB87AEEF}"/>
              </a:ext>
            </a:extLst>
          </p:cNvPr>
          <p:cNvSpPr txBox="1"/>
          <p:nvPr/>
        </p:nvSpPr>
        <p:spPr>
          <a:xfrm>
            <a:off x="6191252" y="3322791"/>
            <a:ext cx="5181600" cy="2806296"/>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marL="285750" indent="-228600">
              <a:lnSpc>
                <a:spcPct val="90000"/>
              </a:lnSpc>
              <a:spcAft>
                <a:spcPts val="600"/>
              </a:spcAft>
              <a:buFont typeface="Arial" panose="020B0604020202020204" pitchFamily="34" charset="0"/>
              <a:buChar char="•"/>
            </a:pPr>
            <a:r>
              <a:rPr lang="en-US" sz="1700"/>
              <a:t>Communication stalled for a small duration of the project but did improve.</a:t>
            </a:r>
          </a:p>
          <a:p>
            <a:pPr marL="57150">
              <a:lnSpc>
                <a:spcPct val="90000"/>
              </a:lnSpc>
              <a:spcAft>
                <a:spcPts val="600"/>
              </a:spcAft>
            </a:pPr>
            <a:endParaRPr lang="en-US" sz="1700">
              <a:ea typeface="+mn-lt"/>
              <a:cs typeface="+mn-lt"/>
            </a:endParaRPr>
          </a:p>
          <a:p>
            <a:pPr marL="285750" indent="-228600">
              <a:lnSpc>
                <a:spcPct val="90000"/>
              </a:lnSpc>
              <a:spcAft>
                <a:spcPts val="600"/>
              </a:spcAft>
              <a:buFont typeface="Arial" panose="020B0604020202020204" pitchFamily="34" charset="0"/>
              <a:buChar char="•"/>
            </a:pPr>
            <a:r>
              <a:rPr lang="en-US"/>
              <a:t>Merge Conflicts: We had few merge conflicts</a:t>
            </a:r>
            <a:endParaRPr lang="en-US" sz="1700"/>
          </a:p>
        </p:txBody>
      </p:sp>
    </p:spTree>
    <p:extLst>
      <p:ext uri="{BB962C8B-B14F-4D97-AF65-F5344CB8AC3E}">
        <p14:creationId xmlns:p14="http://schemas.microsoft.com/office/powerpoint/2010/main" val="32787272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89DBE-14FC-F618-1C6F-6F88CFFE08C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75D2F7E-FD19-57CD-B52A-B60B6AD1ACF9}"/>
              </a:ext>
            </a:extLst>
          </p:cNvPr>
          <p:cNvSpPr>
            <a:spLocks noGrp="1"/>
          </p:cNvSpPr>
          <p:nvPr>
            <p:ph idx="1"/>
          </p:nvPr>
        </p:nvSpPr>
        <p:spPr/>
        <p:txBody>
          <a:bodyPr/>
          <a:lstStyle/>
          <a:p>
            <a:endParaRPr lang="en-US"/>
          </a:p>
        </p:txBody>
      </p:sp>
      <p:pic>
        <p:nvPicPr>
          <p:cNvPr id="4" name="2026-05-06 16-10-49">
            <a:hlinkClick r:id="" action="ppaction://media"/>
            <a:extLst>
              <a:ext uri="{FF2B5EF4-FFF2-40B4-BE49-F238E27FC236}">
                <a16:creationId xmlns:a16="http://schemas.microsoft.com/office/drawing/2014/main" id="{D9E48E12-5070-AD95-7EB6-B247F5DBA4D3}"/>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0" y="0"/>
            <a:ext cx="12192000" cy="6858000"/>
          </a:xfrm>
          <a:prstGeom prst="rect">
            <a:avLst/>
          </a:prstGeom>
        </p:spPr>
      </p:pic>
    </p:spTree>
    <p:extLst>
      <p:ext uri="{BB962C8B-B14F-4D97-AF65-F5344CB8AC3E}">
        <p14:creationId xmlns:p14="http://schemas.microsoft.com/office/powerpoint/2010/main" val="2699206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 name="Arc 11">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BD413C6-67B9-2AEA-2FB0-D8A5C38C2C19}"/>
              </a:ext>
            </a:extLst>
          </p:cNvPr>
          <p:cNvSpPr>
            <a:spLocks noGrp="1"/>
          </p:cNvSpPr>
          <p:nvPr>
            <p:ph type="title"/>
          </p:nvPr>
        </p:nvSpPr>
        <p:spPr>
          <a:xfrm>
            <a:off x="5894962" y="479493"/>
            <a:ext cx="5458838" cy="1325563"/>
          </a:xfrm>
        </p:spPr>
        <p:txBody>
          <a:bodyPr vert="horz" lIns="91440" tIns="45720" rIns="91440" bIns="45720" rtlCol="0" anchor="ctr">
            <a:normAutofit/>
          </a:bodyPr>
          <a:lstStyle/>
          <a:p>
            <a:r>
              <a:rPr lang="en-US" kern="1200">
                <a:solidFill>
                  <a:schemeClr val="tx1"/>
                </a:solidFill>
                <a:latin typeface="+mj-lt"/>
                <a:ea typeface="+mj-ea"/>
                <a:cs typeface="+mj-cs"/>
              </a:rPr>
              <a:t>Fixing the feed</a:t>
            </a:r>
          </a:p>
        </p:txBody>
      </p:sp>
      <p:sp>
        <p:nvSpPr>
          <p:cNvPr id="14" name="Freeform: Shape 13">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Content Placeholder 4" descr="A computer screen with text and images&#10;&#10;AI-generated content may be incorrect.">
            <a:extLst>
              <a:ext uri="{FF2B5EF4-FFF2-40B4-BE49-F238E27FC236}">
                <a16:creationId xmlns:a16="http://schemas.microsoft.com/office/drawing/2014/main" id="{02FD43DF-484D-D080-0777-CE68350237C2}"/>
              </a:ext>
            </a:extLst>
          </p:cNvPr>
          <p:cNvPicPr>
            <a:picLocks noGrp="1" noChangeAspect="1"/>
          </p:cNvPicPr>
          <p:nvPr>
            <p:ph sz="half" idx="2"/>
          </p:nvPr>
        </p:nvPicPr>
        <p:blipFill>
          <a:blip r:embed="rId2"/>
          <a:stretch>
            <a:fillRect/>
          </a:stretch>
        </p:blipFill>
        <p:spPr>
          <a:xfrm>
            <a:off x="703182" y="1492893"/>
            <a:ext cx="4777381" cy="3702470"/>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3" name="Content Placeholder 2">
            <a:extLst>
              <a:ext uri="{FF2B5EF4-FFF2-40B4-BE49-F238E27FC236}">
                <a16:creationId xmlns:a16="http://schemas.microsoft.com/office/drawing/2014/main" id="{98570B18-258F-F938-0E1B-C66A195D1A0B}"/>
              </a:ext>
            </a:extLst>
          </p:cNvPr>
          <p:cNvSpPr>
            <a:spLocks noGrp="1"/>
          </p:cNvSpPr>
          <p:nvPr>
            <p:ph sz="half" idx="1"/>
          </p:nvPr>
        </p:nvSpPr>
        <p:spPr>
          <a:xfrm>
            <a:off x="5894962" y="1984443"/>
            <a:ext cx="5458838" cy="4192520"/>
          </a:xfrm>
        </p:spPr>
        <p:txBody>
          <a:bodyPr vert="horz" lIns="91440" tIns="45720" rIns="91440" bIns="45720" rtlCol="0" anchor="t">
            <a:normAutofit/>
          </a:bodyPr>
          <a:lstStyle/>
          <a:p>
            <a:r>
              <a:rPr lang="en-US"/>
              <a:t>This sprint was a simple-</a:t>
            </a:r>
            <a:r>
              <a:rPr lang="en-US" err="1"/>
              <a:t>ish</a:t>
            </a:r>
            <a:r>
              <a:rPr lang="en-US"/>
              <a:t> bug-hunt within the rss.js file.</a:t>
            </a:r>
          </a:p>
          <a:p>
            <a:pPr lvl="1">
              <a:buFont typeface="Courier New" panose="020B0604020202020204" pitchFamily="34" charset="0"/>
              <a:buChar char="o"/>
            </a:pPr>
            <a:r>
              <a:rPr lang="en-US"/>
              <a:t>Goals were to fix a logic issue with repeating feeds and a few formatting glitches that occurred with the updated visuals.</a:t>
            </a:r>
          </a:p>
          <a:p>
            <a:r>
              <a:rPr lang="en-US"/>
              <a:t>All bugs were successfully squashed, and the RSS feed runs as expected.</a:t>
            </a:r>
            <a:br>
              <a:rPr lang="en-US"/>
            </a:br>
            <a:endParaRPr lang="en-US"/>
          </a:p>
        </p:txBody>
      </p:sp>
    </p:spTree>
    <p:extLst>
      <p:ext uri="{BB962C8B-B14F-4D97-AF65-F5344CB8AC3E}">
        <p14:creationId xmlns:p14="http://schemas.microsoft.com/office/powerpoint/2010/main" val="42692677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CB73585-DA8D-9241-6EAA-F758F5B40806}"/>
              </a:ext>
            </a:extLst>
          </p:cNvPr>
          <p:cNvSpPr>
            <a:spLocks noGrp="1"/>
          </p:cNvSpPr>
          <p:nvPr>
            <p:ph type="title"/>
          </p:nvPr>
        </p:nvSpPr>
        <p:spPr>
          <a:xfrm>
            <a:off x="1136397" y="502021"/>
            <a:ext cx="4959603" cy="1642969"/>
          </a:xfrm>
        </p:spPr>
        <p:txBody>
          <a:bodyPr vert="horz" lIns="91440" tIns="45720" rIns="91440" bIns="45720" rtlCol="0" anchor="b">
            <a:normAutofit/>
          </a:bodyPr>
          <a:lstStyle/>
          <a:p>
            <a:r>
              <a:rPr lang="en-US" sz="4000" kern="1200">
                <a:solidFill>
                  <a:schemeClr val="tx1"/>
                </a:solidFill>
                <a:latin typeface="+mj-lt"/>
                <a:ea typeface="+mj-ea"/>
                <a:cs typeface="+mj-cs"/>
              </a:rPr>
              <a:t>Calendar Implementation</a:t>
            </a:r>
          </a:p>
        </p:txBody>
      </p:sp>
      <p:sp>
        <p:nvSpPr>
          <p:cNvPr id="3" name="Content Placeholder 2">
            <a:extLst>
              <a:ext uri="{FF2B5EF4-FFF2-40B4-BE49-F238E27FC236}">
                <a16:creationId xmlns:a16="http://schemas.microsoft.com/office/drawing/2014/main" id="{963CD772-F230-3274-C9FC-ED3783E1121E}"/>
              </a:ext>
            </a:extLst>
          </p:cNvPr>
          <p:cNvSpPr>
            <a:spLocks noGrp="1"/>
          </p:cNvSpPr>
          <p:nvPr>
            <p:ph sz="half" idx="1"/>
          </p:nvPr>
        </p:nvSpPr>
        <p:spPr>
          <a:xfrm>
            <a:off x="1136397" y="2418408"/>
            <a:ext cx="4959603" cy="3522569"/>
          </a:xfrm>
        </p:spPr>
        <p:txBody>
          <a:bodyPr vert="horz" lIns="91440" tIns="45720" rIns="91440" bIns="45720" rtlCol="0" anchor="t">
            <a:normAutofit/>
          </a:bodyPr>
          <a:lstStyle/>
          <a:p>
            <a:pPr marL="0"/>
            <a:r>
              <a:rPr lang="en-US" sz="2000"/>
              <a:t>Further work on calendar implementation as well as stylization. Correct orientation as well as showing times vs all day events</a:t>
            </a:r>
          </a:p>
        </p:txBody>
      </p:sp>
      <p:pic>
        <p:nvPicPr>
          <p:cNvPr id="15" name="Content Placeholder 14" descr="A screenshot of a computer&#10;&#10;AI-generated content may be incorrect.">
            <a:extLst>
              <a:ext uri="{FF2B5EF4-FFF2-40B4-BE49-F238E27FC236}">
                <a16:creationId xmlns:a16="http://schemas.microsoft.com/office/drawing/2014/main" id="{971FC562-770B-2A3D-791E-4569E85484C4}"/>
              </a:ext>
            </a:extLst>
          </p:cNvPr>
          <p:cNvPicPr>
            <a:picLocks noGrp="1" noChangeAspect="1"/>
          </p:cNvPicPr>
          <p:nvPr>
            <p:ph sz="half" idx="2"/>
          </p:nvPr>
        </p:nvPicPr>
        <p:blipFill>
          <a:blip r:embed="rId3"/>
          <a:stretch>
            <a:fillRect/>
          </a:stretch>
        </p:blipFill>
        <p:spPr>
          <a:xfrm>
            <a:off x="6095723" y="1207186"/>
            <a:ext cx="6093992" cy="3684591"/>
          </a:xfrm>
          <a:prstGeom prst="rect">
            <a:avLst/>
          </a:prstGeom>
        </p:spPr>
      </p:pic>
      <p:sp>
        <p:nvSpPr>
          <p:cNvPr id="22" name="Rectangle 21">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147885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BA85D67-3989-1C80-B520-8BE9A85224FB}"/>
              </a:ext>
            </a:extLst>
          </p:cNvPr>
          <p:cNvSpPr>
            <a:spLocks noGrp="1"/>
          </p:cNvSpPr>
          <p:nvPr>
            <p:ph type="title"/>
          </p:nvPr>
        </p:nvSpPr>
        <p:spPr>
          <a:xfrm>
            <a:off x="826396" y="586855"/>
            <a:ext cx="4230100" cy="3387497"/>
          </a:xfrm>
        </p:spPr>
        <p:txBody>
          <a:bodyPr anchor="b">
            <a:normAutofit/>
          </a:bodyPr>
          <a:lstStyle/>
          <a:p>
            <a:pPr algn="r"/>
            <a:r>
              <a:rPr lang="en-US" sz="4000">
                <a:solidFill>
                  <a:srgbClr val="FFFFFF"/>
                </a:solidFill>
              </a:rPr>
              <a:t>Calendar Setup</a:t>
            </a:r>
          </a:p>
        </p:txBody>
      </p:sp>
      <p:sp>
        <p:nvSpPr>
          <p:cNvPr id="3" name="Content Placeholder 2">
            <a:extLst>
              <a:ext uri="{FF2B5EF4-FFF2-40B4-BE49-F238E27FC236}">
                <a16:creationId xmlns:a16="http://schemas.microsoft.com/office/drawing/2014/main" id="{C22FF367-3F79-5A0B-AFB3-8BD6215AE125}"/>
              </a:ext>
            </a:extLst>
          </p:cNvPr>
          <p:cNvSpPr>
            <a:spLocks noGrp="1"/>
          </p:cNvSpPr>
          <p:nvPr>
            <p:ph idx="1"/>
          </p:nvPr>
        </p:nvSpPr>
        <p:spPr>
          <a:xfrm>
            <a:off x="6096758" y="588520"/>
            <a:ext cx="4862447" cy="1167087"/>
          </a:xfrm>
        </p:spPr>
        <p:txBody>
          <a:bodyPr anchor="ctr">
            <a:normAutofit/>
          </a:bodyPr>
          <a:lstStyle/>
          <a:p>
            <a:r>
              <a:rPr lang="en-US" sz="2000"/>
              <a:t>Added instructions to README on how to add personal calendar to the app</a:t>
            </a:r>
          </a:p>
        </p:txBody>
      </p:sp>
      <p:pic>
        <p:nvPicPr>
          <p:cNvPr id="4" name="Picture 3" descr="A screenshot of a computer program&#10;&#10;AI-generated content may be incorrect.">
            <a:extLst>
              <a:ext uri="{FF2B5EF4-FFF2-40B4-BE49-F238E27FC236}">
                <a16:creationId xmlns:a16="http://schemas.microsoft.com/office/drawing/2014/main" id="{78662E17-3BF5-53A9-80B1-9E9C1F755717}"/>
              </a:ext>
            </a:extLst>
          </p:cNvPr>
          <p:cNvPicPr>
            <a:picLocks noChangeAspect="1"/>
          </p:cNvPicPr>
          <p:nvPr/>
        </p:nvPicPr>
        <p:blipFill>
          <a:blip r:embed="rId3"/>
          <a:stretch>
            <a:fillRect/>
          </a:stretch>
        </p:blipFill>
        <p:spPr>
          <a:xfrm>
            <a:off x="5572760" y="2107565"/>
            <a:ext cx="6614160" cy="4502150"/>
          </a:xfrm>
          <a:prstGeom prst="rect">
            <a:avLst/>
          </a:prstGeom>
        </p:spPr>
      </p:pic>
    </p:spTree>
    <p:extLst>
      <p:ext uri="{BB962C8B-B14F-4D97-AF65-F5344CB8AC3E}">
        <p14:creationId xmlns:p14="http://schemas.microsoft.com/office/powerpoint/2010/main" val="40797321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1DF9C-E186-7472-BA44-8A3FA87C8172}"/>
              </a:ext>
            </a:extLst>
          </p:cNvPr>
          <p:cNvSpPr>
            <a:spLocks noGrp="1"/>
          </p:cNvSpPr>
          <p:nvPr>
            <p:ph type="title"/>
          </p:nvPr>
        </p:nvSpPr>
        <p:spPr>
          <a:xfrm>
            <a:off x="838200" y="140433"/>
            <a:ext cx="10515600" cy="1325563"/>
          </a:xfrm>
        </p:spPr>
        <p:txBody>
          <a:bodyPr/>
          <a:lstStyle/>
          <a:p>
            <a:r>
              <a:rPr lang="en-US"/>
              <a:t>Final Look of Program</a:t>
            </a:r>
          </a:p>
        </p:txBody>
      </p:sp>
      <p:sp>
        <p:nvSpPr>
          <p:cNvPr id="3" name="Content Placeholder 2">
            <a:extLst>
              <a:ext uri="{FF2B5EF4-FFF2-40B4-BE49-F238E27FC236}">
                <a16:creationId xmlns:a16="http://schemas.microsoft.com/office/drawing/2014/main" id="{B0D8A06D-3A5C-58BF-2925-97AFBB4552CE}"/>
              </a:ext>
            </a:extLst>
          </p:cNvPr>
          <p:cNvSpPr>
            <a:spLocks noGrp="1"/>
          </p:cNvSpPr>
          <p:nvPr>
            <p:ph idx="1"/>
          </p:nvPr>
        </p:nvSpPr>
        <p:spPr>
          <a:xfrm>
            <a:off x="4335584" y="3378932"/>
            <a:ext cx="1860063" cy="863724"/>
          </a:xfrm>
        </p:spPr>
        <p:txBody>
          <a:bodyPr vert="horz" lIns="91440" tIns="45720" rIns="91440" bIns="45720" rtlCol="0" anchor="t">
            <a:normAutofit/>
          </a:bodyPr>
          <a:lstStyle/>
          <a:p>
            <a:pPr marL="0" indent="0">
              <a:buNone/>
            </a:pPr>
            <a:r>
              <a:rPr lang="en-US"/>
              <a:t>Before</a:t>
            </a:r>
          </a:p>
        </p:txBody>
      </p:sp>
      <p:sp>
        <p:nvSpPr>
          <p:cNvPr id="5" name="Content Placeholder 2">
            <a:extLst>
              <a:ext uri="{FF2B5EF4-FFF2-40B4-BE49-F238E27FC236}">
                <a16:creationId xmlns:a16="http://schemas.microsoft.com/office/drawing/2014/main" id="{7D02D33F-A5E6-F528-EF44-23AE8A5B443F}"/>
              </a:ext>
            </a:extLst>
          </p:cNvPr>
          <p:cNvSpPr txBox="1">
            <a:spLocks/>
          </p:cNvSpPr>
          <p:nvPr/>
        </p:nvSpPr>
        <p:spPr>
          <a:xfrm>
            <a:off x="8307754" y="3541102"/>
            <a:ext cx="1860063" cy="863724"/>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t>After</a:t>
            </a:r>
          </a:p>
        </p:txBody>
      </p:sp>
      <p:pic>
        <p:nvPicPr>
          <p:cNvPr id="6" name="Picture 5" descr="A screenshot of a phone&#10;&#10;AI-generated content may be incorrect.">
            <a:extLst>
              <a:ext uri="{FF2B5EF4-FFF2-40B4-BE49-F238E27FC236}">
                <a16:creationId xmlns:a16="http://schemas.microsoft.com/office/drawing/2014/main" id="{6CA1C443-BFB9-8B44-F305-0854AF1922DB}"/>
              </a:ext>
            </a:extLst>
          </p:cNvPr>
          <p:cNvPicPr>
            <a:picLocks noChangeAspect="1"/>
          </p:cNvPicPr>
          <p:nvPr/>
        </p:nvPicPr>
        <p:blipFill>
          <a:blip r:embed="rId2"/>
          <a:stretch>
            <a:fillRect/>
          </a:stretch>
        </p:blipFill>
        <p:spPr>
          <a:xfrm>
            <a:off x="5742533" y="1133231"/>
            <a:ext cx="2230933" cy="5363307"/>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75817147-BFB3-FD25-0EB8-CE400D028538}"/>
              </a:ext>
            </a:extLst>
          </p:cNvPr>
          <p:cNvPicPr>
            <a:picLocks noChangeAspect="1"/>
          </p:cNvPicPr>
          <p:nvPr/>
        </p:nvPicPr>
        <p:blipFill>
          <a:blip r:embed="rId3"/>
          <a:stretch>
            <a:fillRect/>
          </a:stretch>
        </p:blipFill>
        <p:spPr>
          <a:xfrm>
            <a:off x="9236999" y="1133230"/>
            <a:ext cx="2236770" cy="5353539"/>
          </a:xfrm>
          <a:prstGeom prst="rect">
            <a:avLst/>
          </a:prstGeom>
        </p:spPr>
      </p:pic>
      <p:sp>
        <p:nvSpPr>
          <p:cNvPr id="12" name="Content Placeholder 2">
            <a:extLst>
              <a:ext uri="{FF2B5EF4-FFF2-40B4-BE49-F238E27FC236}">
                <a16:creationId xmlns:a16="http://schemas.microsoft.com/office/drawing/2014/main" id="{DE1C9B34-F88D-5EF3-B97B-BF5D7A966694}"/>
              </a:ext>
            </a:extLst>
          </p:cNvPr>
          <p:cNvSpPr txBox="1">
            <a:spLocks/>
          </p:cNvSpPr>
          <p:nvPr/>
        </p:nvSpPr>
        <p:spPr>
          <a:xfrm>
            <a:off x="290526" y="1464891"/>
            <a:ext cx="3694029" cy="4919113"/>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a:t>We decided to go for a more professional look to the program. We were also able to add a customizable slideshow of images since the teacher asked for it. The newer version came out to be a quite simple and clean way to see a live clock, weather, calendar, and certain news sources.</a:t>
            </a:r>
          </a:p>
        </p:txBody>
      </p:sp>
    </p:spTree>
    <p:extLst>
      <p:ext uri="{BB962C8B-B14F-4D97-AF65-F5344CB8AC3E}">
        <p14:creationId xmlns:p14="http://schemas.microsoft.com/office/powerpoint/2010/main" val="4169573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8C3F5E8-7CA7-1E01-087D-3DB129A63ADF}"/>
              </a:ext>
            </a:extLst>
          </p:cNvPr>
          <p:cNvSpPr>
            <a:spLocks noGrp="1"/>
          </p:cNvSpPr>
          <p:nvPr>
            <p:ph type="title"/>
          </p:nvPr>
        </p:nvSpPr>
        <p:spPr>
          <a:xfrm>
            <a:off x="1136397" y="502020"/>
            <a:ext cx="5323715" cy="1642970"/>
          </a:xfrm>
        </p:spPr>
        <p:txBody>
          <a:bodyPr anchor="b">
            <a:normAutofit/>
          </a:bodyPr>
          <a:lstStyle/>
          <a:p>
            <a:r>
              <a:rPr lang="en-US" sz="4000"/>
              <a:t>Deployment</a:t>
            </a:r>
          </a:p>
        </p:txBody>
      </p:sp>
      <p:sp>
        <p:nvSpPr>
          <p:cNvPr id="3" name="Content Placeholder 2">
            <a:extLst>
              <a:ext uri="{FF2B5EF4-FFF2-40B4-BE49-F238E27FC236}">
                <a16:creationId xmlns:a16="http://schemas.microsoft.com/office/drawing/2014/main" id="{16C75E2B-EC68-A989-6162-7AE54E14BCB0}"/>
              </a:ext>
            </a:extLst>
          </p:cNvPr>
          <p:cNvSpPr>
            <a:spLocks noGrp="1"/>
          </p:cNvSpPr>
          <p:nvPr>
            <p:ph idx="1"/>
          </p:nvPr>
        </p:nvSpPr>
        <p:spPr>
          <a:xfrm>
            <a:off x="1144923" y="2405894"/>
            <a:ext cx="5315189" cy="3535083"/>
          </a:xfrm>
        </p:spPr>
        <p:txBody>
          <a:bodyPr vert="horz" lIns="91440" tIns="45720" rIns="91440" bIns="45720" rtlCol="0" anchor="t">
            <a:normAutofit/>
          </a:bodyPr>
          <a:lstStyle/>
          <a:p>
            <a:r>
              <a:rPr lang="en-US" sz="2000"/>
              <a:t>While using the VS Code live server addon to test our program it was not a great way to run the final product. After doing tons of research on what would work best to run our program, we saw things such as electron and NPX through node.js. Live server for example would just bring up a google tab that wouldn’t update constantly and have google URL, bookmarks, etc.</a:t>
            </a:r>
          </a:p>
        </p:txBody>
      </p:sp>
      <p:sp>
        <p:nvSpPr>
          <p:cNvPr id="11" name="Rectangle 10">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screenshot of a computer&#10;&#10;AI-generated content may be incorrect.">
            <a:extLst>
              <a:ext uri="{FF2B5EF4-FFF2-40B4-BE49-F238E27FC236}">
                <a16:creationId xmlns:a16="http://schemas.microsoft.com/office/drawing/2014/main" id="{FBF02AEB-C1D8-2983-7C9D-FC0FA8E66470}"/>
              </a:ext>
            </a:extLst>
          </p:cNvPr>
          <p:cNvPicPr>
            <a:picLocks noChangeAspect="1"/>
          </p:cNvPicPr>
          <p:nvPr/>
        </p:nvPicPr>
        <p:blipFill>
          <a:blip r:embed="rId2"/>
          <a:stretch>
            <a:fillRect/>
          </a:stretch>
        </p:blipFill>
        <p:spPr>
          <a:xfrm>
            <a:off x="7373447" y="909081"/>
            <a:ext cx="3575570" cy="5071731"/>
          </a:xfrm>
          <a:prstGeom prst="rect">
            <a:avLst/>
          </a:prstGeom>
        </p:spPr>
      </p:pic>
    </p:spTree>
    <p:extLst>
      <p:ext uri="{BB962C8B-B14F-4D97-AF65-F5344CB8AC3E}">
        <p14:creationId xmlns:p14="http://schemas.microsoft.com/office/powerpoint/2010/main" val="36168362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352BEC0E-22F8-46D0-9632-375DB541B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B3D335B-0DAD-FF73-6BA4-EE927CAF49D6}"/>
              </a:ext>
            </a:extLst>
          </p:cNvPr>
          <p:cNvSpPr>
            <a:spLocks noGrp="1"/>
          </p:cNvSpPr>
          <p:nvPr>
            <p:ph type="title"/>
          </p:nvPr>
        </p:nvSpPr>
        <p:spPr>
          <a:xfrm>
            <a:off x="640080" y="329184"/>
            <a:ext cx="6894576" cy="1783080"/>
          </a:xfrm>
        </p:spPr>
        <p:txBody>
          <a:bodyPr anchor="b">
            <a:normAutofit/>
          </a:bodyPr>
          <a:lstStyle/>
          <a:p>
            <a:r>
              <a:rPr lang="en-US" sz="5400"/>
              <a:t>Deployment Cont.</a:t>
            </a:r>
          </a:p>
        </p:txBody>
      </p:sp>
      <p:sp>
        <p:nvSpPr>
          <p:cNvPr id="13"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8952" y="2395728"/>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661B7CF-999E-0D6D-68DD-F6388BCCEAC6}"/>
              </a:ext>
            </a:extLst>
          </p:cNvPr>
          <p:cNvSpPr>
            <a:spLocks noGrp="1"/>
          </p:cNvSpPr>
          <p:nvPr>
            <p:ph idx="1"/>
          </p:nvPr>
        </p:nvSpPr>
        <p:spPr>
          <a:xfrm>
            <a:off x="640080" y="2706624"/>
            <a:ext cx="6894576" cy="3483864"/>
          </a:xfrm>
        </p:spPr>
        <p:txBody>
          <a:bodyPr vert="horz" lIns="91440" tIns="45720" rIns="91440" bIns="45720" rtlCol="0" anchor="t">
            <a:normAutofit fontScale="70000" lnSpcReduction="20000"/>
          </a:bodyPr>
          <a:lstStyle/>
          <a:p>
            <a:r>
              <a:rPr lang="en-US" sz="2600"/>
              <a:t>We decided to go with Node.js NPX system.</a:t>
            </a:r>
          </a:p>
          <a:p>
            <a:r>
              <a:rPr lang="en-US" sz="2600"/>
              <a:t>It runs completely through either vs codes terminal or your pc command. </a:t>
            </a:r>
          </a:p>
          <a:p>
            <a:r>
              <a:rPr lang="en-US" sz="2600"/>
              <a:t>You start the server with NPX serve till you see the server started</a:t>
            </a:r>
          </a:p>
          <a:p>
            <a:r>
              <a:rPr lang="en-US" sz="2600"/>
              <a:t>In a new terminal you go to that newly started server with another command.</a:t>
            </a:r>
          </a:p>
          <a:p>
            <a:r>
              <a:rPr lang="en-US" sz="2600"/>
              <a:t>For more details, there is a document for deployment in </a:t>
            </a:r>
            <a:r>
              <a:rPr lang="en-US" sz="2600" err="1"/>
              <a:t>github</a:t>
            </a:r>
            <a:r>
              <a:rPr lang="en-US" sz="2600"/>
              <a:t> repo.</a:t>
            </a:r>
          </a:p>
          <a:p>
            <a:r>
              <a:rPr lang="en-US" sz="2600"/>
              <a:t>This way a live server will be running and can be told to start when the machine is started so it is always active and online.</a:t>
            </a:r>
          </a:p>
          <a:p>
            <a:r>
              <a:rPr lang="en-US" sz="2600"/>
              <a:t>This will also get rid of</a:t>
            </a:r>
            <a:r>
              <a:rPr lang="en-US" sz="2200"/>
              <a:t> any browser information such as the URL bar or bookmarks.</a:t>
            </a:r>
          </a:p>
        </p:txBody>
      </p:sp>
      <p:pic>
        <p:nvPicPr>
          <p:cNvPr id="6" name="Picture 5" descr="A screenshot of a computer&#10;&#10;AI-generated content may be incorrect.">
            <a:extLst>
              <a:ext uri="{FF2B5EF4-FFF2-40B4-BE49-F238E27FC236}">
                <a16:creationId xmlns:a16="http://schemas.microsoft.com/office/drawing/2014/main" id="{29638D5D-E4B9-7827-1388-DA5C35286077}"/>
              </a:ext>
            </a:extLst>
          </p:cNvPr>
          <p:cNvPicPr>
            <a:picLocks noChangeAspect="1"/>
          </p:cNvPicPr>
          <p:nvPr/>
        </p:nvPicPr>
        <p:blipFill>
          <a:blip r:embed="rId2"/>
          <a:stretch>
            <a:fillRect/>
          </a:stretch>
        </p:blipFill>
        <p:spPr>
          <a:xfrm>
            <a:off x="8800982" y="964183"/>
            <a:ext cx="2130163" cy="3478815"/>
          </a:xfrm>
          <a:prstGeom prst="rect">
            <a:avLst/>
          </a:prstGeom>
        </p:spPr>
      </p:pic>
      <p:pic>
        <p:nvPicPr>
          <p:cNvPr id="5" name="Picture 4" descr="A black screen with white text&#10;&#10;AI-generated content may be incorrect.">
            <a:extLst>
              <a:ext uri="{FF2B5EF4-FFF2-40B4-BE49-F238E27FC236}">
                <a16:creationId xmlns:a16="http://schemas.microsoft.com/office/drawing/2014/main" id="{2ADA909E-123F-24B3-99FD-BA60C81901D0}"/>
              </a:ext>
            </a:extLst>
          </p:cNvPr>
          <p:cNvPicPr>
            <a:picLocks noChangeAspect="1"/>
          </p:cNvPicPr>
          <p:nvPr/>
        </p:nvPicPr>
        <p:blipFill>
          <a:blip r:embed="rId3"/>
          <a:stretch>
            <a:fillRect/>
          </a:stretch>
        </p:blipFill>
        <p:spPr>
          <a:xfrm>
            <a:off x="7863840" y="4541826"/>
            <a:ext cx="3995928" cy="1251005"/>
          </a:xfrm>
          <a:prstGeom prst="rect">
            <a:avLst/>
          </a:prstGeom>
        </p:spPr>
      </p:pic>
    </p:spTree>
    <p:extLst>
      <p:ext uri="{BB962C8B-B14F-4D97-AF65-F5344CB8AC3E}">
        <p14:creationId xmlns:p14="http://schemas.microsoft.com/office/powerpoint/2010/main" val="26958466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2AEEBC8-9D30-42EF-95F2-386C2653FB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8C9BF1F-6571-48D1-9102-4F28C672A1E5}"/>
              </a:ext>
            </a:extLst>
          </p:cNvPr>
          <p:cNvSpPr>
            <a:spLocks noGrp="1"/>
          </p:cNvSpPr>
          <p:nvPr>
            <p:ph type="title"/>
          </p:nvPr>
        </p:nvSpPr>
        <p:spPr>
          <a:xfrm>
            <a:off x="630936" y="502920"/>
            <a:ext cx="3419856" cy="1463040"/>
          </a:xfrm>
        </p:spPr>
        <p:txBody>
          <a:bodyPr vert="horz" lIns="91440" tIns="45720" rIns="91440" bIns="45720" rtlCol="0" anchor="ctr">
            <a:normAutofit/>
          </a:bodyPr>
          <a:lstStyle/>
          <a:p>
            <a:r>
              <a:rPr lang="en-US" sz="4800" kern="1200">
                <a:solidFill>
                  <a:schemeClr val="tx1"/>
                </a:solidFill>
                <a:latin typeface="+mj-lt"/>
                <a:ea typeface="+mj-ea"/>
                <a:cs typeface="+mj-cs"/>
              </a:rPr>
              <a:t>Container Deployment</a:t>
            </a:r>
          </a:p>
        </p:txBody>
      </p:sp>
      <p:sp>
        <p:nvSpPr>
          <p:cNvPr id="12" name="sketch line">
            <a:extLst>
              <a:ext uri="{FF2B5EF4-FFF2-40B4-BE49-F238E27FC236}">
                <a16:creationId xmlns:a16="http://schemas.microsoft.com/office/drawing/2014/main" id="{2E92FA66-67D7-4CB4-94D3-E643A9AD4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566159" y="1225296"/>
            <a:ext cx="1554480" cy="18288"/>
          </a:xfrm>
          <a:custGeom>
            <a:avLst/>
            <a:gdLst>
              <a:gd name="csX0" fmla="*/ 0 w 1554480"/>
              <a:gd name="csY0" fmla="*/ 0 h 18288"/>
              <a:gd name="csX1" fmla="*/ 549250 w 1554480"/>
              <a:gd name="csY1" fmla="*/ 0 h 18288"/>
              <a:gd name="csX2" fmla="*/ 1082954 w 1554480"/>
              <a:gd name="csY2" fmla="*/ 0 h 18288"/>
              <a:gd name="csX3" fmla="*/ 1554480 w 1554480"/>
              <a:gd name="csY3" fmla="*/ 0 h 18288"/>
              <a:gd name="csX4" fmla="*/ 1554480 w 1554480"/>
              <a:gd name="csY4" fmla="*/ 18288 h 18288"/>
              <a:gd name="csX5" fmla="*/ 1067410 w 1554480"/>
              <a:gd name="csY5" fmla="*/ 18288 h 18288"/>
              <a:gd name="csX6" fmla="*/ 549250 w 1554480"/>
              <a:gd name="csY6" fmla="*/ 18288 h 18288"/>
              <a:gd name="csX7" fmla="*/ 0 w 1554480"/>
              <a:gd name="csY7" fmla="*/ 18288 h 18288"/>
              <a:gd name="csX8" fmla="*/ 0 w 1554480"/>
              <a:gd name="csY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A412346-D536-6FAD-4245-3BB927F8F296}"/>
              </a:ext>
            </a:extLst>
          </p:cNvPr>
          <p:cNvSpPr>
            <a:spLocks noGrp="1"/>
          </p:cNvSpPr>
          <p:nvPr>
            <p:ph sz="half" idx="1"/>
          </p:nvPr>
        </p:nvSpPr>
        <p:spPr>
          <a:xfrm>
            <a:off x="4654295" y="502920"/>
            <a:ext cx="6894576" cy="1463040"/>
          </a:xfrm>
        </p:spPr>
        <p:txBody>
          <a:bodyPr vert="horz" lIns="91440" tIns="45720" rIns="91440" bIns="45720" rtlCol="0" anchor="ctr">
            <a:normAutofit/>
          </a:bodyPr>
          <a:lstStyle/>
          <a:p>
            <a:r>
              <a:rPr lang="en-US" sz="1700"/>
              <a:t>Uses nginx on alpine OS</a:t>
            </a:r>
          </a:p>
          <a:p>
            <a:r>
              <a:rPr lang="en-US" sz="1700"/>
              <a:t>Copies in files from our src directory</a:t>
            </a:r>
          </a:p>
          <a:p>
            <a:r>
              <a:rPr lang="en-US" sz="1700"/>
              <a:t>Copies in our config</a:t>
            </a:r>
          </a:p>
          <a:p>
            <a:r>
              <a:rPr lang="en-US" sz="1700"/>
              <a:t>And exposes on port 80</a:t>
            </a:r>
          </a:p>
        </p:txBody>
      </p:sp>
      <p:pic>
        <p:nvPicPr>
          <p:cNvPr id="5" name="Content Placeholder 4" descr="A screen shot of a computer&#10;&#10;AI-generated content may be incorrect.">
            <a:extLst>
              <a:ext uri="{FF2B5EF4-FFF2-40B4-BE49-F238E27FC236}">
                <a16:creationId xmlns:a16="http://schemas.microsoft.com/office/drawing/2014/main" id="{F5B0C323-1B13-7036-0F42-3960C75DFA9E}"/>
              </a:ext>
            </a:extLst>
          </p:cNvPr>
          <p:cNvPicPr>
            <a:picLocks noGrp="1" noChangeAspect="1"/>
          </p:cNvPicPr>
          <p:nvPr>
            <p:ph sz="half" idx="2"/>
          </p:nvPr>
        </p:nvPicPr>
        <p:blipFill>
          <a:blip r:embed="rId3"/>
          <a:stretch>
            <a:fillRect/>
          </a:stretch>
        </p:blipFill>
        <p:spPr>
          <a:xfrm>
            <a:off x="630936" y="2428211"/>
            <a:ext cx="10917936" cy="3684802"/>
          </a:xfrm>
          <a:prstGeom prst="rect">
            <a:avLst/>
          </a:prstGeom>
        </p:spPr>
      </p:pic>
    </p:spTree>
    <p:extLst>
      <p:ext uri="{BB962C8B-B14F-4D97-AF65-F5344CB8AC3E}">
        <p14:creationId xmlns:p14="http://schemas.microsoft.com/office/powerpoint/2010/main" val="39227900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 name="Arc 11">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57BB1FE-7BE9-74A3-2193-AE6A41E64AB7}"/>
              </a:ext>
            </a:extLst>
          </p:cNvPr>
          <p:cNvSpPr>
            <a:spLocks noGrp="1"/>
          </p:cNvSpPr>
          <p:nvPr>
            <p:ph type="title"/>
          </p:nvPr>
        </p:nvSpPr>
        <p:spPr>
          <a:xfrm>
            <a:off x="5894962" y="479493"/>
            <a:ext cx="5458838" cy="1325563"/>
          </a:xfrm>
        </p:spPr>
        <p:txBody>
          <a:bodyPr vert="horz" lIns="91440" tIns="45720" rIns="91440" bIns="45720" rtlCol="0" anchor="ctr">
            <a:normAutofit/>
          </a:bodyPr>
          <a:lstStyle/>
          <a:p>
            <a:r>
              <a:rPr lang="en-US" kern="1200">
                <a:solidFill>
                  <a:schemeClr val="tx1"/>
                </a:solidFill>
                <a:latin typeface="+mj-lt"/>
                <a:ea typeface="+mj-ea"/>
                <a:cs typeface="+mj-cs"/>
              </a:rPr>
              <a:t>Container Deployment</a:t>
            </a:r>
          </a:p>
        </p:txBody>
      </p:sp>
      <p:sp>
        <p:nvSpPr>
          <p:cNvPr id="14" name="Freeform: Shape 13">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Content Placeholder 4" descr="A screenshot of a computer program&#10;&#10;AI-generated content may be incorrect.">
            <a:extLst>
              <a:ext uri="{FF2B5EF4-FFF2-40B4-BE49-F238E27FC236}">
                <a16:creationId xmlns:a16="http://schemas.microsoft.com/office/drawing/2014/main" id="{FB45D015-A276-9667-EE40-2061D20AE57D}"/>
              </a:ext>
            </a:extLst>
          </p:cNvPr>
          <p:cNvPicPr>
            <a:picLocks noGrp="1" noChangeAspect="1"/>
          </p:cNvPicPr>
          <p:nvPr>
            <p:ph sz="half" idx="2"/>
          </p:nvPr>
        </p:nvPicPr>
        <p:blipFill>
          <a:blip r:embed="rId3"/>
          <a:stretch>
            <a:fillRect/>
          </a:stretch>
        </p:blipFill>
        <p:spPr>
          <a:xfrm>
            <a:off x="703182" y="1582469"/>
            <a:ext cx="4777381" cy="3523317"/>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3" name="Content Placeholder 2">
            <a:extLst>
              <a:ext uri="{FF2B5EF4-FFF2-40B4-BE49-F238E27FC236}">
                <a16:creationId xmlns:a16="http://schemas.microsoft.com/office/drawing/2014/main" id="{E06BF6CC-2805-20FA-DC3C-94D8366C7E9B}"/>
              </a:ext>
            </a:extLst>
          </p:cNvPr>
          <p:cNvSpPr>
            <a:spLocks noGrp="1"/>
          </p:cNvSpPr>
          <p:nvPr>
            <p:ph sz="half" idx="1"/>
          </p:nvPr>
        </p:nvSpPr>
        <p:spPr>
          <a:xfrm>
            <a:off x="5894962" y="1984443"/>
            <a:ext cx="5458838" cy="4192520"/>
          </a:xfrm>
        </p:spPr>
        <p:txBody>
          <a:bodyPr vert="horz" lIns="91440" tIns="45720" rIns="91440" bIns="45720" rtlCol="0">
            <a:normAutofit/>
          </a:bodyPr>
          <a:lstStyle/>
          <a:p>
            <a:r>
              <a:rPr lang="en-US"/>
              <a:t>Serves all users and hardware</a:t>
            </a:r>
          </a:p>
          <a:p>
            <a:r>
              <a:rPr lang="en-US"/>
              <a:t>Portable</a:t>
            </a:r>
            <a:endParaRPr lang="en-US" dirty="0"/>
          </a:p>
        </p:txBody>
      </p:sp>
    </p:spTree>
    <p:extLst>
      <p:ext uri="{BB962C8B-B14F-4D97-AF65-F5344CB8AC3E}">
        <p14:creationId xmlns:p14="http://schemas.microsoft.com/office/powerpoint/2010/main" val="30529614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EC8C9AA-3281-D901-CFB2-570CADDE2628}"/>
              </a:ext>
            </a:extLst>
          </p:cNvPr>
          <p:cNvSpPr>
            <a:spLocks noGrp="1"/>
          </p:cNvSpPr>
          <p:nvPr>
            <p:ph type="title"/>
          </p:nvPr>
        </p:nvSpPr>
        <p:spPr>
          <a:xfrm>
            <a:off x="826396" y="586855"/>
            <a:ext cx="4230100" cy="3387497"/>
          </a:xfrm>
        </p:spPr>
        <p:txBody>
          <a:bodyPr anchor="b">
            <a:normAutofit/>
          </a:bodyPr>
          <a:lstStyle/>
          <a:p>
            <a:pPr algn="r"/>
            <a:r>
              <a:rPr lang="en-US" sz="4000">
                <a:solidFill>
                  <a:srgbClr val="FFFFFF"/>
                </a:solidFill>
              </a:rPr>
              <a:t>Code Statistics</a:t>
            </a:r>
          </a:p>
        </p:txBody>
      </p:sp>
      <p:sp>
        <p:nvSpPr>
          <p:cNvPr id="3" name="Content Placeholder 2">
            <a:extLst>
              <a:ext uri="{FF2B5EF4-FFF2-40B4-BE49-F238E27FC236}">
                <a16:creationId xmlns:a16="http://schemas.microsoft.com/office/drawing/2014/main" id="{3A4FF8BD-D85F-ED6A-9908-F459FD55A97E}"/>
              </a:ext>
            </a:extLst>
          </p:cNvPr>
          <p:cNvSpPr>
            <a:spLocks noGrp="1"/>
          </p:cNvSpPr>
          <p:nvPr>
            <p:ph idx="1"/>
          </p:nvPr>
        </p:nvSpPr>
        <p:spPr>
          <a:xfrm>
            <a:off x="6503158" y="649480"/>
            <a:ext cx="4862447" cy="5546047"/>
          </a:xfrm>
        </p:spPr>
        <p:txBody>
          <a:bodyPr vert="horz" lIns="91440" tIns="45720" rIns="91440" bIns="45720" rtlCol="0" anchor="ctr">
            <a:normAutofit/>
          </a:bodyPr>
          <a:lstStyle/>
          <a:p>
            <a:r>
              <a:rPr lang="en-US" sz="2000"/>
              <a:t>SLoC:1481</a:t>
            </a:r>
          </a:p>
          <a:p>
            <a:pPr lvl="1">
              <a:buFont typeface="Courier New" panose="020B0604020202020204" pitchFamily="34" charset="0"/>
              <a:buChar char="o"/>
            </a:pPr>
            <a:r>
              <a:rPr lang="en-US" sz="2000">
                <a:ea typeface="+mn-lt"/>
                <a:cs typeface="+mn-lt"/>
              </a:rPr>
              <a:t>1643 insertions(+), 1006 deletions(-)</a:t>
            </a:r>
            <a:endParaRPr lang="en-US" sz="2000"/>
          </a:p>
          <a:p>
            <a:endParaRPr lang="en-US" sz="2000"/>
          </a:p>
          <a:p>
            <a:r>
              <a:rPr lang="en-US" sz="2000"/>
              <a:t>Static Code Analysis</a:t>
            </a:r>
          </a:p>
          <a:p>
            <a:pPr lvl="1">
              <a:buFont typeface="Courier New" panose="020B0604020202020204" pitchFamily="34" charset="0"/>
              <a:buChar char="o"/>
            </a:pPr>
            <a:r>
              <a:rPr lang="en-US" sz="2000"/>
              <a:t>Cyclomatic Complexity:</a:t>
            </a:r>
            <a:r>
              <a:rPr lang="en-US" sz="2000">
                <a:ea typeface="+mn-lt"/>
                <a:cs typeface="+mn-lt"/>
              </a:rPr>
              <a:t> Static analysis identified 6 warnings, primarily due to large function sizes and moderate cyclomatic complexity. The most complex function had a complexity of 13, slightly above the recommended threshold of 10.</a:t>
            </a:r>
            <a:endParaRPr lang="en-US" sz="2000"/>
          </a:p>
          <a:p>
            <a:pPr lvl="1">
              <a:buFont typeface="Courier New" panose="020B0604020202020204" pitchFamily="34" charset="0"/>
              <a:buChar char="o"/>
            </a:pPr>
            <a:r>
              <a:rPr lang="en-US" sz="2000">
                <a:ea typeface="+mn-lt"/>
                <a:cs typeface="+mn-lt"/>
              </a:rPr>
              <a:t>Average method length is approximately 60–70 lines per function.</a:t>
            </a:r>
            <a:endParaRPr lang="en-US" sz="2000"/>
          </a:p>
          <a:p>
            <a:endParaRPr lang="en-US" sz="2000"/>
          </a:p>
          <a:p>
            <a:pPr marL="0" indent="0">
              <a:buNone/>
            </a:pPr>
            <a:endParaRPr lang="en-US" sz="2000"/>
          </a:p>
        </p:txBody>
      </p:sp>
    </p:spTree>
    <p:extLst>
      <p:ext uri="{BB962C8B-B14F-4D97-AF65-F5344CB8AC3E}">
        <p14:creationId xmlns:p14="http://schemas.microsoft.com/office/powerpoint/2010/main" val="42921222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16848B7-E58C-FC11-9507-5DA5227DBDD9}"/>
              </a:ext>
            </a:extLst>
          </p:cNvPr>
          <p:cNvPicPr>
            <a:picLocks noChangeAspect="1"/>
          </p:cNvPicPr>
          <p:nvPr/>
        </p:nvPicPr>
        <p:blipFill>
          <a:blip r:embed="rId2">
            <a:duotone>
              <a:schemeClr val="bg2">
                <a:shade val="45000"/>
                <a:satMod val="135000"/>
              </a:schemeClr>
              <a:prstClr val="white"/>
            </a:duotone>
          </a:blip>
          <a:srcRect t="31820" r="9085" b="-7"/>
          <a:stretch>
            <a:fillRect/>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2CA380F-84E1-09A0-32B8-0007A7147073}"/>
              </a:ext>
            </a:extLst>
          </p:cNvPr>
          <p:cNvSpPr>
            <a:spLocks noGrp="1"/>
          </p:cNvSpPr>
          <p:nvPr>
            <p:ph type="title"/>
          </p:nvPr>
        </p:nvSpPr>
        <p:spPr>
          <a:xfrm>
            <a:off x="838200" y="365125"/>
            <a:ext cx="10515600" cy="1325563"/>
          </a:xfrm>
        </p:spPr>
        <p:txBody>
          <a:bodyPr>
            <a:normAutofit/>
          </a:bodyPr>
          <a:lstStyle/>
          <a:p>
            <a:r>
              <a:rPr lang="en-US" b="0">
                <a:ea typeface="+mj-lt"/>
                <a:cs typeface="+mj-lt"/>
              </a:rPr>
              <a:t>SDLC statistics</a:t>
            </a:r>
            <a:endParaRPr lang="en-US"/>
          </a:p>
        </p:txBody>
      </p:sp>
      <p:graphicFrame>
        <p:nvGraphicFramePr>
          <p:cNvPr id="21" name="Content Placeholder 2">
            <a:extLst>
              <a:ext uri="{FF2B5EF4-FFF2-40B4-BE49-F238E27FC236}">
                <a16:creationId xmlns:a16="http://schemas.microsoft.com/office/drawing/2014/main" id="{1F664290-F5EA-B91B-D74F-9ED058BF2B94}"/>
              </a:ext>
            </a:extLst>
          </p:cNvPr>
          <p:cNvGraphicFramePr>
            <a:graphicFrameLocks noGrp="1"/>
          </p:cNvGraphicFramePr>
          <p:nvPr>
            <p:ph idx="1"/>
            <p:extLst>
              <p:ext uri="{D42A27DB-BD31-4B8C-83A1-F6EECF244321}">
                <p14:modId xmlns:p14="http://schemas.microsoft.com/office/powerpoint/2010/main" val="570561171"/>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152509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373DC-984C-7157-0194-EE4B7C9703F6}"/>
            </a:ext>
          </a:extLst>
        </p:cNvPr>
        <p:cNvGrpSpPr/>
        <p:nvPr/>
      </p:nvGrpSpPr>
      <p:grpSpPr>
        <a:xfrm>
          <a:off x="0" y="0"/>
          <a:ext cx="0" cy="0"/>
          <a:chOff x="0" y="0"/>
          <a:chExt cx="0" cy="0"/>
        </a:xfrm>
      </p:grpSpPr>
      <p:graphicFrame>
        <p:nvGraphicFramePr>
          <p:cNvPr id="9" name="Content Placeholder 8">
            <a:extLst>
              <a:ext uri="{FF2B5EF4-FFF2-40B4-BE49-F238E27FC236}">
                <a16:creationId xmlns:a16="http://schemas.microsoft.com/office/drawing/2014/main" id="{6CE8A134-23BF-9230-05F1-A2AC626EC87A}"/>
              </a:ext>
            </a:extLst>
          </p:cNvPr>
          <p:cNvGraphicFramePr>
            <a:graphicFrameLocks noGrp="1"/>
          </p:cNvGraphicFramePr>
          <p:nvPr>
            <p:ph idx="1"/>
            <p:extLst>
              <p:ext uri="{D42A27DB-BD31-4B8C-83A1-F6EECF244321}">
                <p14:modId xmlns:p14="http://schemas.microsoft.com/office/powerpoint/2010/main" val="1144120942"/>
              </p:ext>
            </p:extLst>
          </p:nvPr>
        </p:nvGraphicFramePr>
        <p:xfrm>
          <a:off x="838200" y="492219"/>
          <a:ext cx="10515600" cy="5220387"/>
        </p:xfrm>
        <a:graphic>
          <a:graphicData uri="http://schemas.openxmlformats.org/drawingml/2006/table">
            <a:tbl>
              <a:tblPr firstRow="1" bandRow="1">
                <a:tableStyleId>{5C22544A-7EE6-4342-B048-85BDC9FD1C3A}</a:tableStyleId>
              </a:tblPr>
              <a:tblGrid>
                <a:gridCol w="3505200">
                  <a:extLst>
                    <a:ext uri="{9D8B030D-6E8A-4147-A177-3AD203B41FA5}">
                      <a16:colId xmlns:a16="http://schemas.microsoft.com/office/drawing/2014/main" val="2085285562"/>
                    </a:ext>
                  </a:extLst>
                </a:gridCol>
                <a:gridCol w="3505200">
                  <a:extLst>
                    <a:ext uri="{9D8B030D-6E8A-4147-A177-3AD203B41FA5}">
                      <a16:colId xmlns:a16="http://schemas.microsoft.com/office/drawing/2014/main" val="70617811"/>
                    </a:ext>
                  </a:extLst>
                </a:gridCol>
                <a:gridCol w="3505200">
                  <a:extLst>
                    <a:ext uri="{9D8B030D-6E8A-4147-A177-3AD203B41FA5}">
                      <a16:colId xmlns:a16="http://schemas.microsoft.com/office/drawing/2014/main" val="3925395002"/>
                    </a:ext>
                  </a:extLst>
                </a:gridCol>
              </a:tblGrid>
              <a:tr h="428625">
                <a:tc>
                  <a:txBody>
                    <a:bodyPr/>
                    <a:lstStyle/>
                    <a:p>
                      <a:pPr fontAlgn="base">
                        <a:lnSpc>
                          <a:spcPts val="2175"/>
                        </a:lnSpc>
                        <a:buNone/>
                      </a:pPr>
                      <a:r>
                        <a:rPr lang="en-US" sz="1700" b="1">
                          <a:solidFill>
                            <a:srgbClr val="FFFFFF"/>
                          </a:solidFill>
                          <a:effectLst/>
                          <a:latin typeface="Aptos" panose="020B0004020202020204" pitchFamily="34" charset="0"/>
                        </a:rPr>
                        <a:t>Team Name</a:t>
                      </a:r>
                      <a:endParaRPr lang="en-US" b="1">
                        <a:solidFill>
                          <a:srgbClr val="FFFFFF"/>
                        </a:solidFill>
                        <a:effectLst/>
                      </a:endParaRPr>
                    </a:p>
                  </a:txBody>
                  <a:tcPr marL="85087" marR="85087" marT="42539" marB="42539">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13983" cap="flat" cmpd="sng" algn="ctr">
                      <a:solidFill>
                        <a:srgbClr val="FFFFFF"/>
                      </a:solidFill>
                      <a:prstDash val="solid"/>
                      <a:round/>
                      <a:headEnd type="none" w="med" len="med"/>
                      <a:tailEnd type="none" w="med" len="med"/>
                    </a:lnB>
                  </a:tcPr>
                </a:tc>
                <a:tc>
                  <a:txBody>
                    <a:bodyPr/>
                    <a:lstStyle/>
                    <a:p>
                      <a:pPr fontAlgn="base">
                        <a:lnSpc>
                          <a:spcPts val="2175"/>
                        </a:lnSpc>
                        <a:buNone/>
                      </a:pPr>
                      <a:r>
                        <a:rPr lang="en-US" sz="1700" b="1">
                          <a:solidFill>
                            <a:srgbClr val="FFFFFF"/>
                          </a:solidFill>
                          <a:effectLst/>
                          <a:latin typeface="Aptos" panose="020B0004020202020204" pitchFamily="34" charset="0"/>
                        </a:rPr>
                        <a:t>Hours Worked</a:t>
                      </a:r>
                      <a:endParaRPr lang="en-US" b="1">
                        <a:solidFill>
                          <a:srgbClr val="FFFFFF"/>
                        </a:solidFill>
                        <a:effectLst/>
                      </a:endParaRPr>
                    </a:p>
                  </a:txBody>
                  <a:tcPr marL="85087" marR="85087" marT="42539" marB="42539">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13983" cap="flat" cmpd="sng" algn="ctr">
                      <a:solidFill>
                        <a:srgbClr val="FFFFFF"/>
                      </a:solidFill>
                      <a:prstDash val="solid"/>
                      <a:round/>
                      <a:headEnd type="none" w="med" len="med"/>
                      <a:tailEnd type="none" w="med" len="med"/>
                    </a:lnB>
                  </a:tcPr>
                </a:tc>
                <a:tc>
                  <a:txBody>
                    <a:bodyPr/>
                    <a:lstStyle/>
                    <a:p>
                      <a:pPr fontAlgn="base">
                        <a:lnSpc>
                          <a:spcPts val="2175"/>
                        </a:lnSpc>
                        <a:buNone/>
                      </a:pPr>
                      <a:r>
                        <a:rPr lang="en-US" sz="1700" b="1">
                          <a:solidFill>
                            <a:srgbClr val="FFFFFF"/>
                          </a:solidFill>
                          <a:effectLst/>
                          <a:latin typeface="Aptos" panose="020B0004020202020204" pitchFamily="34" charset="0"/>
                        </a:rPr>
                        <a:t>Activity</a:t>
                      </a:r>
                      <a:endParaRPr lang="en-US" b="1">
                        <a:solidFill>
                          <a:srgbClr val="FFFFFF"/>
                        </a:solidFill>
                        <a:effectLst/>
                      </a:endParaRPr>
                    </a:p>
                  </a:txBody>
                  <a:tcPr marL="85087" marR="85087" marT="42539" marB="42539">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13983"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524202908"/>
                  </a:ext>
                </a:extLst>
              </a:tr>
              <a:tr h="714375">
                <a:tc>
                  <a:txBody>
                    <a:bodyPr/>
                    <a:lstStyle/>
                    <a:p>
                      <a:pPr fontAlgn="base">
                        <a:lnSpc>
                          <a:spcPts val="1650"/>
                        </a:lnSpc>
                        <a:buNone/>
                      </a:pPr>
                      <a:r>
                        <a:rPr lang="en-US" sz="1300">
                          <a:effectLst/>
                          <a:latin typeface="Aptos" panose="020B0004020202020204" pitchFamily="34" charset="0"/>
                        </a:rPr>
                        <a:t>Rebeca Soto</a:t>
                      </a:r>
                      <a:endParaRPr lang="en-US">
                        <a:effectLst/>
                      </a:endParaRPr>
                    </a:p>
                  </a:txBody>
                  <a:tcPr marL="85087" marR="85087" marT="42539" marB="42539">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3983"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lvl="0">
                        <a:buNone/>
                      </a:pPr>
                      <a:r>
                        <a:rPr lang="en-US" sz="1300" b="0" i="0" u="none" strike="noStrike" noProof="0">
                          <a:solidFill>
                            <a:srgbClr val="000000"/>
                          </a:solidFill>
                          <a:effectLst/>
                          <a:latin typeface="Aptos"/>
                        </a:rPr>
                        <a:t>26</a:t>
                      </a:r>
                    </a:p>
                  </a:txBody>
                  <a:tcPr marL="85087" marR="85087" marT="42539" marB="42539">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3983"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lvl="0">
                        <a:buNone/>
                      </a:pPr>
                      <a:r>
                        <a:rPr lang="en-US" sz="1300" b="0" i="0" u="none" strike="noStrike" noProof="0">
                          <a:solidFill>
                            <a:srgbClr val="000000"/>
                          </a:solidFill>
                          <a:effectLst/>
                        </a:rPr>
                        <a:t>Added caching and error recovery, d</a:t>
                      </a:r>
                      <a:r>
                        <a:rPr lang="en-US" sz="1300" b="0" i="0" u="none" strike="noStrike" noProof="0">
                          <a:solidFill>
                            <a:srgbClr val="000000"/>
                          </a:solidFill>
                          <a:effectLst/>
                          <a:latin typeface="Aptos"/>
                        </a:rPr>
                        <a:t>ebugged CORS, ports, and fetch issues and </a:t>
                      </a:r>
                      <a:r>
                        <a:rPr lang="en-US" sz="1300" b="0" i="0" u="none" strike="noStrike" noProof="0">
                          <a:solidFill>
                            <a:srgbClr val="000000"/>
                          </a:solidFill>
                          <a:effectLst/>
                        </a:rPr>
                        <a:t>Managed Git branches, merges, and rebases</a:t>
                      </a:r>
                      <a:endParaRPr lang="en-US"/>
                    </a:p>
                  </a:txBody>
                  <a:tcPr marL="85087" marR="85087" marT="42539" marB="42539">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3983"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496969602"/>
                  </a:ext>
                </a:extLst>
              </a:tr>
              <a:tr h="1162050">
                <a:tc>
                  <a:txBody>
                    <a:bodyPr/>
                    <a:lstStyle/>
                    <a:p>
                      <a:pPr fontAlgn="base">
                        <a:lnSpc>
                          <a:spcPts val="1650"/>
                        </a:lnSpc>
                        <a:buNone/>
                      </a:pPr>
                      <a:r>
                        <a:rPr lang="en-US" sz="1300">
                          <a:effectLst/>
                          <a:latin typeface="Aptos" panose="020B0004020202020204" pitchFamily="34" charset="0"/>
                        </a:rPr>
                        <a:t>Jabril Smith</a:t>
                      </a:r>
                      <a:endParaRPr lang="en-US">
                        <a:effectLst/>
                      </a:endParaRPr>
                    </a:p>
                  </a:txBody>
                  <a:tcPr marL="85087" marR="85087" marT="42539" marB="42539">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fontAlgn="base">
                        <a:lnSpc>
                          <a:spcPts val="1650"/>
                        </a:lnSpc>
                        <a:buNone/>
                      </a:pPr>
                      <a:r>
                        <a:rPr lang="en-US" sz="1300">
                          <a:effectLst/>
                          <a:latin typeface="Aptos"/>
                        </a:rPr>
                        <a:t>14</a:t>
                      </a:r>
                      <a:endParaRPr lang="en-US" sz="1300" dirty="0">
                        <a:effectLst/>
                        <a:latin typeface="Aptos"/>
                      </a:endParaRPr>
                    </a:p>
                  </a:txBody>
                  <a:tcPr marL="85087" marR="85087" marT="42539" marB="42539">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fontAlgn="base">
                        <a:lnSpc>
                          <a:spcPts val="1575"/>
                        </a:lnSpc>
                        <a:buNone/>
                      </a:pPr>
                      <a:r>
                        <a:rPr lang="en-US" sz="1300" dirty="0">
                          <a:effectLst/>
                          <a:latin typeface="Aptos"/>
                        </a:rPr>
                        <a:t>Research, Test clock and API call. Docker </a:t>
                      </a:r>
                      <a:r>
                        <a:rPr lang="en-US" sz="1300">
                          <a:effectLst/>
                          <a:latin typeface="Aptos"/>
                        </a:rPr>
                        <a:t>deployment, CI/CD to build container</a:t>
                      </a:r>
                    </a:p>
                  </a:txBody>
                  <a:tcPr marL="85087" marR="85087" marT="42539" marB="42539">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1266559"/>
                  </a:ext>
                </a:extLst>
              </a:tr>
              <a:tr h="714375">
                <a:tc>
                  <a:txBody>
                    <a:bodyPr/>
                    <a:lstStyle/>
                    <a:p>
                      <a:pPr fontAlgn="base">
                        <a:lnSpc>
                          <a:spcPts val="1650"/>
                        </a:lnSpc>
                        <a:buNone/>
                      </a:pPr>
                      <a:r>
                        <a:rPr lang="en-US" sz="1300">
                          <a:effectLst/>
                          <a:latin typeface="Aptos" panose="020B0004020202020204" pitchFamily="34" charset="0"/>
                        </a:rPr>
                        <a:t>Erik Porter</a:t>
                      </a:r>
                      <a:endParaRPr lang="en-US">
                        <a:effectLst/>
                      </a:endParaRPr>
                    </a:p>
                  </a:txBody>
                  <a:tcPr marL="85087" marR="85087" marT="42539" marB="42539">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fontAlgn="base">
                        <a:lnSpc>
                          <a:spcPts val="1650"/>
                        </a:lnSpc>
                        <a:buNone/>
                      </a:pPr>
                      <a:r>
                        <a:rPr lang="en-US" sz="1300">
                          <a:effectLst/>
                          <a:latin typeface="Aptos"/>
                        </a:rPr>
                        <a:t>12</a:t>
                      </a:r>
                    </a:p>
                  </a:txBody>
                  <a:tcPr marL="85087" marR="85087" marT="42539" marB="42539">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fontAlgn="base">
                        <a:lnSpc>
                          <a:spcPts val="1650"/>
                        </a:lnSpc>
                        <a:buNone/>
                      </a:pPr>
                      <a:r>
                        <a:rPr lang="en-US" sz="1300">
                          <a:effectLst/>
                          <a:latin typeface="Aptos"/>
                        </a:rPr>
                        <a:t>Research, documentation and presentation, deployment, and html/CSS customization.</a:t>
                      </a:r>
                    </a:p>
                  </a:txBody>
                  <a:tcPr marL="85087" marR="85087" marT="42539" marB="42539">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362864567"/>
                  </a:ext>
                </a:extLst>
              </a:tr>
              <a:tr h="714375">
                <a:tc>
                  <a:txBody>
                    <a:bodyPr/>
                    <a:lstStyle/>
                    <a:p>
                      <a:pPr fontAlgn="base">
                        <a:lnSpc>
                          <a:spcPts val="1650"/>
                        </a:lnSpc>
                        <a:buNone/>
                      </a:pPr>
                      <a:r>
                        <a:rPr lang="en-US" sz="1300">
                          <a:effectLst/>
                          <a:latin typeface="Aptos" panose="020B0004020202020204" pitchFamily="34" charset="0"/>
                        </a:rPr>
                        <a:t>Steven Schlenker</a:t>
                      </a:r>
                      <a:endParaRPr lang="en-US">
                        <a:effectLst/>
                      </a:endParaRPr>
                    </a:p>
                  </a:txBody>
                  <a:tcPr marL="85087" marR="85087" marT="42539" marB="42539">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fontAlgn="base">
                        <a:lnSpc>
                          <a:spcPts val="1650"/>
                        </a:lnSpc>
                        <a:buNone/>
                      </a:pPr>
                      <a:r>
                        <a:rPr lang="en-US" sz="1300">
                          <a:effectLst/>
                          <a:latin typeface="Aptos"/>
                        </a:rPr>
                        <a:t>7</a:t>
                      </a:r>
                    </a:p>
                  </a:txBody>
                  <a:tcPr marL="85087" marR="85087" marT="42539" marB="42539">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fontAlgn="base">
                        <a:lnSpc>
                          <a:spcPts val="1650"/>
                        </a:lnSpc>
                        <a:buNone/>
                      </a:pPr>
                      <a:r>
                        <a:rPr lang="en-US" sz="1300" dirty="0">
                          <a:effectLst/>
                          <a:latin typeface="Aptos"/>
                        </a:rPr>
                        <a:t>De-bugging, investigating corsproxy.io vs </a:t>
                      </a:r>
                      <a:r>
                        <a:rPr lang="en-US" sz="1300" dirty="0" err="1">
                          <a:effectLst/>
                          <a:latin typeface="Aptos"/>
                        </a:rPr>
                        <a:t>AurariaNet</a:t>
                      </a:r>
                      <a:r>
                        <a:rPr lang="en-US" sz="1300" dirty="0">
                          <a:effectLst/>
                          <a:latin typeface="Aptos"/>
                        </a:rPr>
                        <a:t>, screen capture of working product</a:t>
                      </a:r>
                      <a:endParaRPr lang="en-US" sz="1300" dirty="0" err="1">
                        <a:effectLst/>
                        <a:latin typeface="Aptos"/>
                      </a:endParaRPr>
                    </a:p>
                  </a:txBody>
                  <a:tcPr marL="85087" marR="85087" marT="42539" marB="42539">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3005272863"/>
                  </a:ext>
                </a:extLst>
              </a:tr>
              <a:tr h="762000">
                <a:tc>
                  <a:txBody>
                    <a:bodyPr/>
                    <a:lstStyle/>
                    <a:p>
                      <a:pPr fontAlgn="base">
                        <a:lnSpc>
                          <a:spcPts val="1650"/>
                        </a:lnSpc>
                        <a:buNone/>
                      </a:pPr>
                      <a:r>
                        <a:rPr lang="en-US" sz="1300">
                          <a:effectLst/>
                          <a:latin typeface="Aptos" panose="020B0004020202020204" pitchFamily="34" charset="0"/>
                        </a:rPr>
                        <a:t>Keith Schoen</a:t>
                      </a:r>
                      <a:endParaRPr lang="en-US">
                        <a:effectLst/>
                      </a:endParaRPr>
                    </a:p>
                  </a:txBody>
                  <a:tcPr marL="85087" marR="85087" marT="42539" marB="42539">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fontAlgn="base">
                        <a:lnSpc>
                          <a:spcPts val="1650"/>
                        </a:lnSpc>
                        <a:buNone/>
                      </a:pPr>
                      <a:r>
                        <a:rPr lang="en-US" sz="1300">
                          <a:effectLst/>
                          <a:latin typeface="Aptos"/>
                        </a:rPr>
                        <a:t>6</a:t>
                      </a:r>
                    </a:p>
                  </a:txBody>
                  <a:tcPr marL="85087" marR="85087" marT="42539" marB="42539">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fontAlgn="base">
                        <a:lnSpc>
                          <a:spcPts val="1650"/>
                        </a:lnSpc>
                        <a:buNone/>
                      </a:pPr>
                      <a:r>
                        <a:rPr lang="en-US" sz="1300">
                          <a:effectLst/>
                          <a:latin typeface="Aptos"/>
                        </a:rPr>
                        <a:t>Fixed logic issue causing duplicate feeds to generate. Fixed minor errors in card formatting brough on by visual update.</a:t>
                      </a:r>
                      <a:endParaRPr lang="en-US" sz="1300" err="1">
                        <a:effectLst/>
                        <a:latin typeface="Aptos"/>
                      </a:endParaRPr>
                    </a:p>
                  </a:txBody>
                  <a:tcPr marL="85087" marR="85087" marT="42539" marB="42539">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2320330060"/>
                  </a:ext>
                </a:extLst>
              </a:tr>
              <a:tr h="590550">
                <a:tc>
                  <a:txBody>
                    <a:bodyPr/>
                    <a:lstStyle/>
                    <a:p>
                      <a:pPr fontAlgn="base">
                        <a:lnSpc>
                          <a:spcPts val="1650"/>
                        </a:lnSpc>
                        <a:buNone/>
                      </a:pPr>
                      <a:r>
                        <a:rPr lang="en-US" sz="1300">
                          <a:effectLst/>
                          <a:latin typeface="Aptos" panose="020B0004020202020204" pitchFamily="34" charset="0"/>
                        </a:rPr>
                        <a:t>Nick Sigurdson</a:t>
                      </a:r>
                      <a:endParaRPr lang="en-US">
                        <a:effectLst/>
                      </a:endParaRPr>
                    </a:p>
                  </a:txBody>
                  <a:tcPr marL="85087" marR="85087" marT="42539" marB="42539">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fontAlgn="base">
                        <a:lnSpc>
                          <a:spcPts val="1650"/>
                        </a:lnSpc>
                        <a:buNone/>
                      </a:pPr>
                      <a:r>
                        <a:rPr lang="en-US" sz="1300">
                          <a:effectLst/>
                          <a:latin typeface="Aptos"/>
                        </a:rPr>
                        <a:t>1</a:t>
                      </a:r>
                    </a:p>
                  </a:txBody>
                  <a:tcPr marL="85087" marR="85087" marT="42539" marB="42539">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fontAlgn="base">
                        <a:lnSpc>
                          <a:spcPts val="1650"/>
                        </a:lnSpc>
                        <a:buNone/>
                      </a:pPr>
                      <a:r>
                        <a:rPr lang="en-US" sz="1300">
                          <a:effectLst/>
                          <a:latin typeface="Aptos"/>
                        </a:rPr>
                        <a:t>Further implementation of the calendar API. Created README instructions for setting up calendar</a:t>
                      </a:r>
                    </a:p>
                  </a:txBody>
                  <a:tcPr marL="85087" marR="85087" marT="42539" marB="42539">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657750459"/>
                  </a:ext>
                </a:extLst>
              </a:tr>
            </a:tbl>
          </a:graphicData>
        </a:graphic>
      </p:graphicFrame>
    </p:spTree>
    <p:extLst>
      <p:ext uri="{BB962C8B-B14F-4D97-AF65-F5344CB8AC3E}">
        <p14:creationId xmlns:p14="http://schemas.microsoft.com/office/powerpoint/2010/main" val="26868716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15</Slides>
  <Notes>4</Notes>
  <HiddenSlides>0</HiddenSlide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The Fighting Mongooses Nick Sigurdson, Steven Schlenker, Keith Schoen, Rebeca Soto, Erik Porter, Jabril Smith </vt:lpstr>
      <vt:lpstr>What went well...</vt:lpstr>
      <vt:lpstr>What went poorly...</vt:lpstr>
      <vt:lpstr>PowerPoint Presentation</vt:lpstr>
      <vt:lpstr>Fixing the feed</vt:lpstr>
      <vt:lpstr>Calendar Implementation</vt:lpstr>
      <vt:lpstr>Calendar Setup</vt:lpstr>
      <vt:lpstr>Final Look of Program</vt:lpstr>
      <vt:lpstr>Deployment</vt:lpstr>
      <vt:lpstr>Deployment Cont.</vt:lpstr>
      <vt:lpstr>Container Deployment</vt:lpstr>
      <vt:lpstr>Container Deployment</vt:lpstr>
      <vt:lpstr>Code Statistics</vt:lpstr>
      <vt:lpstr>SDLC statistics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357</cp:revision>
  <dcterms:created xsi:type="dcterms:W3CDTF">2026-05-06T20:27:23Z</dcterms:created>
  <dcterms:modified xsi:type="dcterms:W3CDTF">2026-05-06T22:20:21Z</dcterms:modified>
</cp:coreProperties>
</file>